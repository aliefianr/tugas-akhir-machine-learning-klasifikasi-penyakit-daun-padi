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Open Sauce" charset="1" panose="00000500000000000000"/>
      <p:regular r:id="rId19"/>
    </p:embeddedFont>
    <p:embeddedFont>
      <p:font typeface="Open Sauce Bold" charset="1" panose="00000800000000000000"/>
      <p:regular r:id="rId20"/>
    </p:embeddedFont>
    <p:embeddedFont>
      <p:font typeface="Courier New" charset="1" panose="020703090202050204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3341090"/>
            <a:ext cx="9144000" cy="6945910"/>
          </a:xfrm>
          <a:custGeom>
            <a:avLst/>
            <a:gdLst/>
            <a:ahLst/>
            <a:cxnLst/>
            <a:rect r="r" b="b" t="t" l="l"/>
            <a:pathLst>
              <a:path h="6945910" w="9144000">
                <a:moveTo>
                  <a:pt x="0" y="0"/>
                </a:moveTo>
                <a:lnTo>
                  <a:pt x="9144000" y="0"/>
                </a:lnTo>
                <a:lnTo>
                  <a:pt x="9144000" y="6945910"/>
                </a:lnTo>
                <a:lnTo>
                  <a:pt x="0" y="6945910"/>
                </a:lnTo>
                <a:lnTo>
                  <a:pt x="0" y="0"/>
                </a:lnTo>
                <a:close/>
              </a:path>
            </a:pathLst>
          </a:custGeom>
          <a:blipFill>
            <a:blip r:embed="rId2">
              <a:alphaModFix amt="49000"/>
            </a:blip>
            <a:stretch>
              <a:fillRect l="0" t="-229" r="-14536" b="-229"/>
            </a:stretch>
          </a:blipFill>
        </p:spPr>
      </p:sp>
      <p:sp>
        <p:nvSpPr>
          <p:cNvPr name="TextBox 3" id="3"/>
          <p:cNvSpPr txBox="true"/>
          <p:nvPr/>
        </p:nvSpPr>
        <p:spPr>
          <a:xfrm rot="0">
            <a:off x="9645451" y="7814266"/>
            <a:ext cx="7976058" cy="1202434"/>
          </a:xfrm>
          <a:prstGeom prst="rect">
            <a:avLst/>
          </a:prstGeom>
        </p:spPr>
        <p:txBody>
          <a:bodyPr anchor="t" rtlCol="false" tIns="0" lIns="0" bIns="0" rIns="0">
            <a:spAutoFit/>
          </a:bodyPr>
          <a:lstStyle/>
          <a:p>
            <a:pPr algn="l">
              <a:lnSpc>
                <a:spcPts val="5022"/>
              </a:lnSpc>
            </a:pPr>
            <a:r>
              <a:rPr lang="en-US" sz="2700">
                <a:solidFill>
                  <a:srgbClr val="000000"/>
                </a:solidFill>
                <a:latin typeface="Open Sauce"/>
                <a:ea typeface="Open Sauce"/>
                <a:cs typeface="Open Sauce"/>
                <a:sym typeface="Open Sauce"/>
              </a:rPr>
              <a:t>Tugas Akhir Machine Learning</a:t>
            </a:r>
          </a:p>
          <a:p>
            <a:pPr algn="l">
              <a:lnSpc>
                <a:spcPts val="5022"/>
              </a:lnSpc>
            </a:pPr>
            <a:r>
              <a:rPr lang="en-US" sz="2700">
                <a:solidFill>
                  <a:srgbClr val="000000"/>
                </a:solidFill>
                <a:latin typeface="Open Sauce"/>
                <a:ea typeface="Open Sauce"/>
                <a:cs typeface="Open Sauce"/>
                <a:sym typeface="Open Sauce"/>
              </a:rPr>
              <a:t>Oleh : Aliefian Ramadhan (22081010171)</a:t>
            </a:r>
          </a:p>
        </p:txBody>
      </p:sp>
      <p:sp>
        <p:nvSpPr>
          <p:cNvPr name="TextBox 4" id="4"/>
          <p:cNvSpPr txBox="true"/>
          <p:nvPr/>
        </p:nvSpPr>
        <p:spPr>
          <a:xfrm rot="0">
            <a:off x="9645451" y="4301070"/>
            <a:ext cx="8507816" cy="2762569"/>
          </a:xfrm>
          <a:prstGeom prst="rect">
            <a:avLst/>
          </a:prstGeom>
        </p:spPr>
        <p:txBody>
          <a:bodyPr anchor="t" rtlCol="false" tIns="0" lIns="0" bIns="0" rIns="0">
            <a:spAutoFit/>
          </a:bodyPr>
          <a:lstStyle/>
          <a:p>
            <a:pPr algn="l">
              <a:lnSpc>
                <a:spcPts val="5389"/>
              </a:lnSpc>
            </a:pPr>
            <a:r>
              <a:rPr lang="en-US" sz="3849" b="true">
                <a:solidFill>
                  <a:srgbClr val="000000"/>
                </a:solidFill>
                <a:latin typeface="Open Sauce Bold"/>
                <a:ea typeface="Open Sauce Bold"/>
                <a:cs typeface="Open Sauce Bold"/>
                <a:sym typeface="Open Sauce Bold"/>
              </a:rPr>
              <a:t>MENGGUNAKAN EKSTRAKSI FITUR DENSENET201 DAN ALGORITMA XGBOOST</a:t>
            </a:r>
          </a:p>
          <a:p>
            <a:pPr algn="l">
              <a:lnSpc>
                <a:spcPts val="6124"/>
              </a:lnSpc>
              <a:spcBef>
                <a:spcPct val="0"/>
              </a:spcBef>
            </a:pPr>
          </a:p>
        </p:txBody>
      </p:sp>
      <p:grpSp>
        <p:nvGrpSpPr>
          <p:cNvPr name="Group 5" id="5"/>
          <p:cNvGrpSpPr/>
          <p:nvPr/>
        </p:nvGrpSpPr>
        <p:grpSpPr>
          <a:xfrm rot="0">
            <a:off x="0" y="-332430"/>
            <a:ext cx="18288000" cy="3778098"/>
            <a:chOff x="0" y="0"/>
            <a:chExt cx="3762963" cy="777386"/>
          </a:xfrm>
        </p:grpSpPr>
        <p:sp>
          <p:nvSpPr>
            <p:cNvPr name="Freeform 6" id="6"/>
            <p:cNvSpPr/>
            <p:nvPr/>
          </p:nvSpPr>
          <p:spPr>
            <a:xfrm flipH="false" flipV="false" rot="0">
              <a:off x="0" y="0"/>
              <a:ext cx="3762963" cy="777386"/>
            </a:xfrm>
            <a:custGeom>
              <a:avLst/>
              <a:gdLst/>
              <a:ahLst/>
              <a:cxnLst/>
              <a:rect r="r" b="b" t="t" l="l"/>
              <a:pathLst>
                <a:path h="777386" w="3762963">
                  <a:moveTo>
                    <a:pt x="8268" y="0"/>
                  </a:moveTo>
                  <a:lnTo>
                    <a:pt x="3754695" y="0"/>
                  </a:lnTo>
                  <a:cubicBezTo>
                    <a:pt x="3756888" y="0"/>
                    <a:pt x="3758991" y="871"/>
                    <a:pt x="3760541" y="2422"/>
                  </a:cubicBezTo>
                  <a:cubicBezTo>
                    <a:pt x="3762092" y="3972"/>
                    <a:pt x="3762963" y="6075"/>
                    <a:pt x="3762963" y="8268"/>
                  </a:cubicBezTo>
                  <a:lnTo>
                    <a:pt x="3762963" y="769118"/>
                  </a:lnTo>
                  <a:cubicBezTo>
                    <a:pt x="3762963" y="773685"/>
                    <a:pt x="3759261" y="777386"/>
                    <a:pt x="3754695" y="777386"/>
                  </a:cubicBezTo>
                  <a:lnTo>
                    <a:pt x="8268" y="777386"/>
                  </a:lnTo>
                  <a:cubicBezTo>
                    <a:pt x="3702" y="777386"/>
                    <a:pt x="0" y="773685"/>
                    <a:pt x="0" y="769118"/>
                  </a:cubicBezTo>
                  <a:lnTo>
                    <a:pt x="0" y="8268"/>
                  </a:lnTo>
                  <a:cubicBezTo>
                    <a:pt x="0" y="3702"/>
                    <a:pt x="3702" y="0"/>
                    <a:pt x="8268" y="0"/>
                  </a:cubicBezTo>
                  <a:close/>
                </a:path>
              </a:pathLst>
            </a:custGeom>
            <a:solidFill>
              <a:srgbClr val="016B67"/>
            </a:solidFill>
          </p:spPr>
        </p:sp>
        <p:sp>
          <p:nvSpPr>
            <p:cNvPr name="TextBox 7" id="7"/>
            <p:cNvSpPr txBox="true"/>
            <p:nvPr/>
          </p:nvSpPr>
          <p:spPr>
            <a:xfrm>
              <a:off x="0" y="-47625"/>
              <a:ext cx="3762963" cy="825011"/>
            </a:xfrm>
            <a:prstGeom prst="rect">
              <a:avLst/>
            </a:prstGeom>
          </p:spPr>
          <p:txBody>
            <a:bodyPr anchor="ctr" rtlCol="false" tIns="50800" lIns="50800" bIns="50800" rIns="50800"/>
            <a:lstStyle/>
            <a:p>
              <a:pPr algn="ctr">
                <a:lnSpc>
                  <a:spcPts val="2800"/>
                </a:lnSpc>
              </a:pPr>
            </a:p>
          </p:txBody>
        </p:sp>
      </p:grpSp>
      <p:sp>
        <p:nvSpPr>
          <p:cNvPr name="TextBox 8" id="8"/>
          <p:cNvSpPr txBox="true"/>
          <p:nvPr/>
        </p:nvSpPr>
        <p:spPr>
          <a:xfrm rot="0">
            <a:off x="1028700" y="1190345"/>
            <a:ext cx="16023192" cy="1226820"/>
          </a:xfrm>
          <a:prstGeom prst="rect">
            <a:avLst/>
          </a:prstGeom>
        </p:spPr>
        <p:txBody>
          <a:bodyPr anchor="t" rtlCol="false" tIns="0" lIns="0" bIns="0" rIns="0">
            <a:spAutoFit/>
          </a:bodyPr>
          <a:lstStyle/>
          <a:p>
            <a:pPr algn="just">
              <a:lnSpc>
                <a:spcPts val="10079"/>
              </a:lnSpc>
              <a:spcBef>
                <a:spcPct val="0"/>
              </a:spcBef>
            </a:pPr>
            <a:r>
              <a:rPr lang="en-US" b="true" sz="7199">
                <a:solidFill>
                  <a:srgbClr val="FFFFFF"/>
                </a:solidFill>
                <a:latin typeface="Open Sauce Bold"/>
                <a:ea typeface="Open Sauce Bold"/>
                <a:cs typeface="Open Sauce Bold"/>
                <a:sym typeface="Open Sauce Bold"/>
              </a:rPr>
              <a:t>KLASIFIKASI PENYAKIT DAUN PADI </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428750" y="2941020"/>
            <a:ext cx="13036123" cy="6391275"/>
          </a:xfrm>
          <a:prstGeom prst="rect">
            <a:avLst/>
          </a:prstGeom>
        </p:spPr>
        <p:txBody>
          <a:bodyPr anchor="t" rtlCol="false" tIns="0" lIns="0" bIns="0" rIns="0">
            <a:spAutoFit/>
          </a:bodyPr>
          <a:lstStyle/>
          <a:p>
            <a:pPr algn="just" marL="647700" indent="-323850" lvl="1">
              <a:lnSpc>
                <a:spcPts val="4200"/>
              </a:lnSpc>
              <a:buFont typeface="Arial"/>
              <a:buChar char="•"/>
            </a:pPr>
            <a:r>
              <a:rPr lang="en-US" b="true" sz="3000">
                <a:solidFill>
                  <a:srgbClr val="000000"/>
                </a:solidFill>
                <a:latin typeface="Open Sauce Bold"/>
                <a:ea typeface="Open Sauce Bold"/>
                <a:cs typeface="Open Sauce Bold"/>
                <a:sym typeface="Open Sauce Bold"/>
              </a:rPr>
              <a:t>Pentingnya Padi:</a:t>
            </a:r>
            <a:r>
              <a:rPr lang="en-US" sz="3000">
                <a:solidFill>
                  <a:srgbClr val="000000"/>
                </a:solidFill>
                <a:latin typeface="Open Sauce"/>
                <a:ea typeface="Open Sauce"/>
                <a:cs typeface="Open Sauce"/>
                <a:sym typeface="Open Sauce"/>
              </a:rPr>
              <a:t> Padi adalah komoditas pangan utama, namun rentan terhadap penyakit daun (</a:t>
            </a:r>
            <a:r>
              <a:rPr lang="en-US" sz="3000">
                <a:solidFill>
                  <a:srgbClr val="000000"/>
                </a:solidFill>
                <a:latin typeface="Open Sauce"/>
                <a:ea typeface="Open Sauce"/>
                <a:cs typeface="Open Sauce"/>
                <a:sym typeface="Open Sauce"/>
              </a:rPr>
              <a:t>BrownSpot, Hispa, LeafBlast).</a:t>
            </a:r>
          </a:p>
          <a:p>
            <a:pPr algn="just">
              <a:lnSpc>
                <a:spcPts val="4200"/>
              </a:lnSpc>
            </a:pPr>
          </a:p>
          <a:p>
            <a:pPr algn="just" marL="647700" indent="-323850" lvl="1">
              <a:lnSpc>
                <a:spcPts val="4200"/>
              </a:lnSpc>
              <a:buFont typeface="Arial"/>
              <a:buChar char="•"/>
            </a:pPr>
            <a:r>
              <a:rPr lang="en-US" b="true" sz="3000">
                <a:solidFill>
                  <a:srgbClr val="000000"/>
                </a:solidFill>
                <a:latin typeface="Open Sauce Bold"/>
                <a:ea typeface="Open Sauce Bold"/>
                <a:cs typeface="Open Sauce Bold"/>
                <a:sym typeface="Open Sauce Bold"/>
              </a:rPr>
              <a:t>Masalah Konvensional:</a:t>
            </a:r>
            <a:r>
              <a:rPr lang="en-US" sz="3000">
                <a:solidFill>
                  <a:srgbClr val="000000"/>
                </a:solidFill>
                <a:latin typeface="Open Sauce"/>
                <a:ea typeface="Open Sauce"/>
                <a:cs typeface="Open Sauce"/>
                <a:sym typeface="Open Sauce"/>
              </a:rPr>
              <a:t> Identifikasi manual oleh petani seringkali subjektif, lambat, dan membutuhkan pakar yang jarang tersedia.</a:t>
            </a:r>
          </a:p>
          <a:p>
            <a:pPr algn="just">
              <a:lnSpc>
                <a:spcPts val="4200"/>
              </a:lnSpc>
            </a:pPr>
          </a:p>
          <a:p>
            <a:pPr algn="just" marL="647700" indent="-323850" lvl="1">
              <a:lnSpc>
                <a:spcPts val="4200"/>
              </a:lnSpc>
              <a:buFont typeface="Arial"/>
              <a:buChar char="•"/>
            </a:pPr>
            <a:r>
              <a:rPr lang="en-US" b="true" sz="3000">
                <a:solidFill>
                  <a:srgbClr val="000000"/>
                </a:solidFill>
                <a:latin typeface="Open Sauce Bold"/>
                <a:ea typeface="Open Sauce Bold"/>
                <a:cs typeface="Open Sauce Bold"/>
                <a:sym typeface="Open Sauce Bold"/>
              </a:rPr>
              <a:t>Tantangan Teknis:</a:t>
            </a:r>
            <a:r>
              <a:rPr lang="en-US" sz="3000">
                <a:solidFill>
                  <a:srgbClr val="000000"/>
                </a:solidFill>
                <a:latin typeface="Open Sauce"/>
                <a:ea typeface="Open Sauce"/>
                <a:cs typeface="Open Sauce"/>
                <a:sym typeface="Open Sauce"/>
              </a:rPr>
              <a:t> Kemiripan visual antar penyakit dan ketidakseimbangan data (imbalanced dataset) di lapangan.</a:t>
            </a:r>
          </a:p>
          <a:p>
            <a:pPr algn="just">
              <a:lnSpc>
                <a:spcPts val="4200"/>
              </a:lnSpc>
            </a:pPr>
          </a:p>
          <a:p>
            <a:pPr algn="just" marL="647700" indent="-323850" lvl="1">
              <a:lnSpc>
                <a:spcPts val="4200"/>
              </a:lnSpc>
              <a:buFont typeface="Arial"/>
              <a:buChar char="•"/>
            </a:pPr>
            <a:r>
              <a:rPr lang="en-US" b="true" sz="3000">
                <a:solidFill>
                  <a:srgbClr val="000000"/>
                </a:solidFill>
                <a:latin typeface="Open Sauce Bold"/>
                <a:ea typeface="Open Sauce Bold"/>
                <a:cs typeface="Open Sauce Bold"/>
                <a:sym typeface="Open Sauce Bold"/>
              </a:rPr>
              <a:t>Solusi:</a:t>
            </a:r>
            <a:r>
              <a:rPr lang="en-US" sz="3000">
                <a:solidFill>
                  <a:srgbClr val="000000"/>
                </a:solidFill>
                <a:latin typeface="Open Sauce"/>
                <a:ea typeface="Open Sauce"/>
                <a:cs typeface="Open Sauce"/>
                <a:sym typeface="Open Sauce"/>
              </a:rPr>
              <a:t> Dibutuhkan sistem otomatis yang cepat, akurat, dan dapat dijelaskan (explainable) alasannya.</a:t>
            </a:r>
          </a:p>
          <a:p>
            <a:pPr algn="just" marL="0" indent="0" lvl="0">
              <a:lnSpc>
                <a:spcPts val="4200"/>
              </a:lnSpc>
              <a:spcBef>
                <a:spcPct val="0"/>
              </a:spcBef>
            </a:pPr>
          </a:p>
        </p:txBody>
      </p:sp>
      <p:grpSp>
        <p:nvGrpSpPr>
          <p:cNvPr name="Group 3" id="3"/>
          <p:cNvGrpSpPr/>
          <p:nvPr/>
        </p:nvGrpSpPr>
        <p:grpSpPr>
          <a:xfrm rot="0">
            <a:off x="0" y="-332430"/>
            <a:ext cx="18288000" cy="2307915"/>
            <a:chOff x="0" y="0"/>
            <a:chExt cx="3762963" cy="474880"/>
          </a:xfrm>
        </p:grpSpPr>
        <p:sp>
          <p:nvSpPr>
            <p:cNvPr name="Freeform 4" id="4"/>
            <p:cNvSpPr/>
            <p:nvPr/>
          </p:nvSpPr>
          <p:spPr>
            <a:xfrm flipH="false" flipV="false" rot="0">
              <a:off x="0" y="0"/>
              <a:ext cx="3762963" cy="474880"/>
            </a:xfrm>
            <a:custGeom>
              <a:avLst/>
              <a:gdLst/>
              <a:ahLst/>
              <a:cxnLst/>
              <a:rect r="r" b="b" t="t" l="l"/>
              <a:pathLst>
                <a:path h="474880" w="3762963">
                  <a:moveTo>
                    <a:pt x="8268" y="0"/>
                  </a:moveTo>
                  <a:lnTo>
                    <a:pt x="3754695" y="0"/>
                  </a:lnTo>
                  <a:cubicBezTo>
                    <a:pt x="3756888" y="0"/>
                    <a:pt x="3758991" y="871"/>
                    <a:pt x="3760541" y="2422"/>
                  </a:cubicBezTo>
                  <a:cubicBezTo>
                    <a:pt x="3762092" y="3972"/>
                    <a:pt x="3762963" y="6075"/>
                    <a:pt x="3762963" y="8268"/>
                  </a:cubicBezTo>
                  <a:lnTo>
                    <a:pt x="3762963" y="466611"/>
                  </a:lnTo>
                  <a:cubicBezTo>
                    <a:pt x="3762963" y="471178"/>
                    <a:pt x="3759261" y="474880"/>
                    <a:pt x="3754695" y="474880"/>
                  </a:cubicBezTo>
                  <a:lnTo>
                    <a:pt x="8268" y="474880"/>
                  </a:lnTo>
                  <a:cubicBezTo>
                    <a:pt x="3702" y="474880"/>
                    <a:pt x="0" y="471178"/>
                    <a:pt x="0" y="466611"/>
                  </a:cubicBezTo>
                  <a:lnTo>
                    <a:pt x="0" y="8268"/>
                  </a:lnTo>
                  <a:cubicBezTo>
                    <a:pt x="0" y="3702"/>
                    <a:pt x="3702" y="0"/>
                    <a:pt x="8268" y="0"/>
                  </a:cubicBezTo>
                  <a:close/>
                </a:path>
              </a:pathLst>
            </a:custGeom>
            <a:solidFill>
              <a:srgbClr val="016B67"/>
            </a:solidFill>
          </p:spPr>
        </p:sp>
        <p:sp>
          <p:nvSpPr>
            <p:cNvPr name="TextBox 5" id="5"/>
            <p:cNvSpPr txBox="true"/>
            <p:nvPr/>
          </p:nvSpPr>
          <p:spPr>
            <a:xfrm>
              <a:off x="0" y="-47625"/>
              <a:ext cx="3762963" cy="522505"/>
            </a:xfrm>
            <a:prstGeom prst="rect">
              <a:avLst/>
            </a:prstGeom>
          </p:spPr>
          <p:txBody>
            <a:bodyPr anchor="ctr" rtlCol="false" tIns="50800" lIns="50800" bIns="50800" rIns="50800"/>
            <a:lstStyle/>
            <a:p>
              <a:pPr algn="ctr">
                <a:lnSpc>
                  <a:spcPts val="2800"/>
                </a:lnSpc>
              </a:pPr>
            </a:p>
          </p:txBody>
        </p:sp>
      </p:grpSp>
      <p:sp>
        <p:nvSpPr>
          <p:cNvPr name="TextBox 6" id="6"/>
          <p:cNvSpPr txBox="true"/>
          <p:nvPr/>
        </p:nvSpPr>
        <p:spPr>
          <a:xfrm rot="0">
            <a:off x="1028700" y="286512"/>
            <a:ext cx="15430500" cy="1217295"/>
          </a:xfrm>
          <a:prstGeom prst="rect">
            <a:avLst/>
          </a:prstGeom>
        </p:spPr>
        <p:txBody>
          <a:bodyPr anchor="t" rtlCol="false" tIns="0" lIns="0" bIns="0" rIns="0">
            <a:spAutoFit/>
          </a:bodyPr>
          <a:lstStyle/>
          <a:p>
            <a:pPr algn="l" marL="0" indent="0" lvl="0">
              <a:lnSpc>
                <a:spcPts val="10080"/>
              </a:lnSpc>
              <a:spcBef>
                <a:spcPct val="0"/>
              </a:spcBef>
            </a:pPr>
            <a:r>
              <a:rPr lang="en-US" b="true" sz="7200">
                <a:solidFill>
                  <a:srgbClr val="FFFFFF"/>
                </a:solidFill>
                <a:latin typeface="Open Sauce Bold"/>
                <a:ea typeface="Open Sauce Bold"/>
                <a:cs typeface="Open Sauce Bold"/>
                <a:sym typeface="Open Sauce Bold"/>
              </a:rPr>
              <a:t>Latar Belakang</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86072" y="2812609"/>
            <a:ext cx="15447384" cy="5857875"/>
          </a:xfrm>
          <a:prstGeom prst="rect">
            <a:avLst/>
          </a:prstGeom>
        </p:spPr>
        <p:txBody>
          <a:bodyPr anchor="t" rtlCol="false" tIns="0" lIns="0" bIns="0" rIns="0">
            <a:spAutoFit/>
          </a:bodyPr>
          <a:lstStyle/>
          <a:p>
            <a:pPr algn="just" marL="647700" indent="-323850" lvl="1">
              <a:lnSpc>
                <a:spcPts val="4200"/>
              </a:lnSpc>
              <a:buFont typeface="Arial"/>
              <a:buChar char="•"/>
            </a:pPr>
            <a:r>
              <a:rPr lang="en-US" b="true" sz="3000">
                <a:solidFill>
                  <a:srgbClr val="000000"/>
                </a:solidFill>
                <a:latin typeface="Open Sauce Bold"/>
                <a:ea typeface="Open Sauce Bold"/>
                <a:cs typeface="Open Sauce Bold"/>
                <a:sym typeface="Open Sauce Bold"/>
              </a:rPr>
              <a:t>Rumusan Masalah:</a:t>
            </a:r>
          </a:p>
          <a:p>
            <a:pPr algn="just" marL="647700" indent="-323850" lvl="1">
              <a:lnSpc>
                <a:spcPts val="4200"/>
              </a:lnSpc>
              <a:buAutoNum type="arabicPeriod" startAt="1"/>
            </a:pPr>
            <a:r>
              <a:rPr lang="en-US" sz="3000">
                <a:solidFill>
                  <a:srgbClr val="000000"/>
                </a:solidFill>
                <a:latin typeface="Open Sauce"/>
                <a:ea typeface="Open Sauce"/>
                <a:cs typeface="Open Sauce"/>
                <a:sym typeface="Open Sauce"/>
              </a:rPr>
              <a:t>Bagaimana kinerja metode Hybrid (DenseNet201 + XGBoost) dibanding metode konvensional?</a:t>
            </a:r>
          </a:p>
          <a:p>
            <a:pPr algn="just" marL="647700" indent="-323850" lvl="1">
              <a:lnSpc>
                <a:spcPts val="4200"/>
              </a:lnSpc>
              <a:buAutoNum type="arabicPeriod" startAt="1"/>
            </a:pPr>
            <a:r>
              <a:rPr lang="en-US" sz="3000">
                <a:solidFill>
                  <a:srgbClr val="000000"/>
                </a:solidFill>
                <a:latin typeface="Open Sauce"/>
                <a:ea typeface="Open Sauce"/>
                <a:cs typeface="Open Sauce"/>
                <a:sym typeface="Open Sauce"/>
              </a:rPr>
              <a:t>Bagaimana pengaruh Hyperparameter Tuning pada XGBoost terhadap akurasi?</a:t>
            </a:r>
          </a:p>
          <a:p>
            <a:pPr algn="just" marL="647700" indent="-323850" lvl="1">
              <a:lnSpc>
                <a:spcPts val="4200"/>
              </a:lnSpc>
              <a:buAutoNum type="arabicPeriod" startAt="1"/>
            </a:pPr>
            <a:r>
              <a:rPr lang="en-US" sz="3000">
                <a:solidFill>
                  <a:srgbClr val="000000"/>
                </a:solidFill>
                <a:latin typeface="Open Sauce"/>
                <a:ea typeface="Open Sauce"/>
                <a:cs typeface="Open Sauce"/>
                <a:sym typeface="Open Sauce"/>
              </a:rPr>
              <a:t>Bagaimana menerapkan Explainability agar model tidak menjadi "Black Box"?</a:t>
            </a:r>
          </a:p>
          <a:p>
            <a:pPr algn="just">
              <a:lnSpc>
                <a:spcPts val="4200"/>
              </a:lnSpc>
            </a:pPr>
          </a:p>
          <a:p>
            <a:pPr algn="just" marL="647700" indent="-323850" lvl="1">
              <a:lnSpc>
                <a:spcPts val="4200"/>
              </a:lnSpc>
              <a:buFont typeface="Arial"/>
              <a:buChar char="•"/>
            </a:pPr>
            <a:r>
              <a:rPr lang="en-US" b="true" sz="3000">
                <a:solidFill>
                  <a:srgbClr val="000000"/>
                </a:solidFill>
                <a:latin typeface="Open Sauce Bold"/>
                <a:ea typeface="Open Sauce Bold"/>
                <a:cs typeface="Open Sauce Bold"/>
                <a:sym typeface="Open Sauce Bold"/>
              </a:rPr>
              <a:t>Tujuan Penelitian:</a:t>
            </a:r>
          </a:p>
          <a:p>
            <a:pPr algn="just" marL="647700" indent="-323850" lvl="1">
              <a:lnSpc>
                <a:spcPts val="4200"/>
              </a:lnSpc>
              <a:buAutoNum type="arabicPeriod" startAt="1"/>
            </a:pPr>
            <a:r>
              <a:rPr lang="en-US" sz="3000">
                <a:solidFill>
                  <a:srgbClr val="000000"/>
                </a:solidFill>
                <a:latin typeface="Open Sauce"/>
                <a:ea typeface="Open Sauce"/>
                <a:cs typeface="Open Sauce"/>
                <a:sym typeface="Open Sauce"/>
              </a:rPr>
              <a:t>Membangun model klasifikasi 4 kelas (BrownSpot, Healthy, Hispa, LeafBlast).</a:t>
            </a:r>
          </a:p>
          <a:p>
            <a:pPr algn="just" marL="647700" indent="-323850" lvl="1">
              <a:lnSpc>
                <a:spcPts val="4200"/>
              </a:lnSpc>
              <a:buAutoNum type="arabicPeriod" startAt="1"/>
            </a:pPr>
            <a:r>
              <a:rPr lang="en-US" sz="3000">
                <a:solidFill>
                  <a:srgbClr val="000000"/>
                </a:solidFill>
                <a:latin typeface="Open Sauce"/>
                <a:ea typeface="Open Sauce"/>
                <a:cs typeface="Open Sauce"/>
                <a:sym typeface="Open Sauce"/>
              </a:rPr>
              <a:t>Mengoptimasi performa model menggunakan XGBoost yang di-tuning.</a:t>
            </a:r>
          </a:p>
          <a:p>
            <a:pPr algn="just" marL="647700" indent="-323850" lvl="1">
              <a:lnSpc>
                <a:spcPts val="4200"/>
              </a:lnSpc>
              <a:buAutoNum type="arabicPeriod" startAt="1"/>
            </a:pPr>
            <a:r>
              <a:rPr lang="en-US" sz="3000">
                <a:solidFill>
                  <a:srgbClr val="000000"/>
                </a:solidFill>
                <a:latin typeface="Open Sauce"/>
                <a:ea typeface="Open Sauce"/>
                <a:cs typeface="Open Sauce"/>
                <a:sym typeface="Open Sauce"/>
              </a:rPr>
              <a:t>Memvisualisasikan area fokus prediksi menggunakan Grad-CAM.</a:t>
            </a:r>
          </a:p>
          <a:p>
            <a:pPr algn="just">
              <a:lnSpc>
                <a:spcPts val="4200"/>
              </a:lnSpc>
              <a:spcBef>
                <a:spcPct val="0"/>
              </a:spcBef>
            </a:pPr>
          </a:p>
        </p:txBody>
      </p:sp>
      <p:grpSp>
        <p:nvGrpSpPr>
          <p:cNvPr name="Group 3" id="3"/>
          <p:cNvGrpSpPr/>
          <p:nvPr/>
        </p:nvGrpSpPr>
        <p:grpSpPr>
          <a:xfrm rot="0">
            <a:off x="0" y="-332430"/>
            <a:ext cx="18288000" cy="2307915"/>
            <a:chOff x="0" y="0"/>
            <a:chExt cx="3762963" cy="474880"/>
          </a:xfrm>
        </p:grpSpPr>
        <p:sp>
          <p:nvSpPr>
            <p:cNvPr name="Freeform 4" id="4"/>
            <p:cNvSpPr/>
            <p:nvPr/>
          </p:nvSpPr>
          <p:spPr>
            <a:xfrm flipH="false" flipV="false" rot="0">
              <a:off x="0" y="0"/>
              <a:ext cx="3762963" cy="474880"/>
            </a:xfrm>
            <a:custGeom>
              <a:avLst/>
              <a:gdLst/>
              <a:ahLst/>
              <a:cxnLst/>
              <a:rect r="r" b="b" t="t" l="l"/>
              <a:pathLst>
                <a:path h="474880" w="3762963">
                  <a:moveTo>
                    <a:pt x="8268" y="0"/>
                  </a:moveTo>
                  <a:lnTo>
                    <a:pt x="3754695" y="0"/>
                  </a:lnTo>
                  <a:cubicBezTo>
                    <a:pt x="3756888" y="0"/>
                    <a:pt x="3758991" y="871"/>
                    <a:pt x="3760541" y="2422"/>
                  </a:cubicBezTo>
                  <a:cubicBezTo>
                    <a:pt x="3762092" y="3972"/>
                    <a:pt x="3762963" y="6075"/>
                    <a:pt x="3762963" y="8268"/>
                  </a:cubicBezTo>
                  <a:lnTo>
                    <a:pt x="3762963" y="466611"/>
                  </a:lnTo>
                  <a:cubicBezTo>
                    <a:pt x="3762963" y="471178"/>
                    <a:pt x="3759261" y="474880"/>
                    <a:pt x="3754695" y="474880"/>
                  </a:cubicBezTo>
                  <a:lnTo>
                    <a:pt x="8268" y="474880"/>
                  </a:lnTo>
                  <a:cubicBezTo>
                    <a:pt x="3702" y="474880"/>
                    <a:pt x="0" y="471178"/>
                    <a:pt x="0" y="466611"/>
                  </a:cubicBezTo>
                  <a:lnTo>
                    <a:pt x="0" y="8268"/>
                  </a:lnTo>
                  <a:cubicBezTo>
                    <a:pt x="0" y="3702"/>
                    <a:pt x="3702" y="0"/>
                    <a:pt x="8268" y="0"/>
                  </a:cubicBezTo>
                  <a:close/>
                </a:path>
              </a:pathLst>
            </a:custGeom>
            <a:solidFill>
              <a:srgbClr val="016B67"/>
            </a:solidFill>
          </p:spPr>
        </p:sp>
        <p:sp>
          <p:nvSpPr>
            <p:cNvPr name="TextBox 5" id="5"/>
            <p:cNvSpPr txBox="true"/>
            <p:nvPr/>
          </p:nvSpPr>
          <p:spPr>
            <a:xfrm>
              <a:off x="0" y="-47625"/>
              <a:ext cx="3762963" cy="522505"/>
            </a:xfrm>
            <a:prstGeom prst="rect">
              <a:avLst/>
            </a:prstGeom>
          </p:spPr>
          <p:txBody>
            <a:bodyPr anchor="ctr" rtlCol="false" tIns="50800" lIns="50800" bIns="50800" rIns="50800"/>
            <a:lstStyle/>
            <a:p>
              <a:pPr algn="ctr">
                <a:lnSpc>
                  <a:spcPts val="2800"/>
                </a:lnSpc>
              </a:pPr>
            </a:p>
          </p:txBody>
        </p:sp>
      </p:grpSp>
      <p:sp>
        <p:nvSpPr>
          <p:cNvPr name="TextBox 6" id="6"/>
          <p:cNvSpPr txBox="true"/>
          <p:nvPr/>
        </p:nvSpPr>
        <p:spPr>
          <a:xfrm rot="0">
            <a:off x="1028700" y="286512"/>
            <a:ext cx="15430500" cy="1217295"/>
          </a:xfrm>
          <a:prstGeom prst="rect">
            <a:avLst/>
          </a:prstGeom>
        </p:spPr>
        <p:txBody>
          <a:bodyPr anchor="t" rtlCol="false" tIns="0" lIns="0" bIns="0" rIns="0">
            <a:spAutoFit/>
          </a:bodyPr>
          <a:lstStyle/>
          <a:p>
            <a:pPr algn="l" marL="0" indent="0" lvl="0">
              <a:lnSpc>
                <a:spcPts val="10080"/>
              </a:lnSpc>
              <a:spcBef>
                <a:spcPct val="0"/>
              </a:spcBef>
            </a:pPr>
            <a:r>
              <a:rPr lang="en-US" b="true" sz="7200">
                <a:solidFill>
                  <a:srgbClr val="FFFFFF"/>
                </a:solidFill>
                <a:latin typeface="Open Sauce Bold"/>
                <a:ea typeface="Open Sauce Bold"/>
                <a:cs typeface="Open Sauce Bold"/>
                <a:sym typeface="Open Sauce Bold"/>
              </a:rPr>
              <a:t>Rumusan Masalah &amp; Tujuan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881562" y="2638391"/>
            <a:ext cx="12650892" cy="6767322"/>
          </a:xfrm>
          <a:prstGeom prst="rect">
            <a:avLst/>
          </a:prstGeom>
        </p:spPr>
        <p:txBody>
          <a:bodyPr anchor="t" rtlCol="false" tIns="0" lIns="0" bIns="0" rIns="0">
            <a:spAutoFit/>
          </a:bodyPr>
          <a:lstStyle/>
          <a:p>
            <a:pPr algn="just" marL="561342" indent="-280671" lvl="1">
              <a:lnSpc>
                <a:spcPts val="4134"/>
              </a:lnSpc>
              <a:buAutoNum type="arabicPeriod" startAt="1"/>
            </a:pPr>
            <a:r>
              <a:rPr lang="en-US" sz="2600">
                <a:solidFill>
                  <a:srgbClr val="000000"/>
                </a:solidFill>
                <a:latin typeface="Open Sauce"/>
                <a:ea typeface="Open Sauce"/>
                <a:cs typeface="Open Sauce"/>
                <a:sym typeface="Open Sauce"/>
              </a:rPr>
              <a:t>Pengumpulan Data: Mengunduh d</a:t>
            </a:r>
            <a:r>
              <a:rPr lang="en-US" sz="2600">
                <a:solidFill>
                  <a:srgbClr val="000000"/>
                </a:solidFill>
                <a:latin typeface="Open Sauce"/>
                <a:ea typeface="Open Sauce"/>
                <a:cs typeface="Open Sauce"/>
                <a:sym typeface="Open Sauce"/>
              </a:rPr>
              <a:t>ataset citra daun padi dari repositori publik.</a:t>
            </a:r>
          </a:p>
          <a:p>
            <a:pPr algn="just" marL="561342" indent="-280671" lvl="1">
              <a:lnSpc>
                <a:spcPts val="4134"/>
              </a:lnSpc>
              <a:buAutoNum type="arabicPeriod" startAt="1"/>
            </a:pPr>
            <a:r>
              <a:rPr lang="en-US" sz="2600">
                <a:solidFill>
                  <a:srgbClr val="000000"/>
                </a:solidFill>
                <a:latin typeface="Open Sauce"/>
                <a:ea typeface="Open Sauce"/>
                <a:cs typeface="Open Sauce"/>
                <a:sym typeface="Open Sauce"/>
              </a:rPr>
              <a:t>Pra-pemrosesan Data: Resizing, normalisasi, dan label encoding.</a:t>
            </a:r>
          </a:p>
          <a:p>
            <a:pPr algn="just" marL="561342" indent="-280671" lvl="1">
              <a:lnSpc>
                <a:spcPts val="4134"/>
              </a:lnSpc>
              <a:buAutoNum type="arabicPeriod" startAt="1"/>
            </a:pPr>
            <a:r>
              <a:rPr lang="en-US" sz="2600">
                <a:solidFill>
                  <a:srgbClr val="000000"/>
                </a:solidFill>
                <a:latin typeface="Open Sauce"/>
                <a:ea typeface="Open Sauce"/>
                <a:cs typeface="Open Sauce"/>
                <a:sym typeface="Open Sauce"/>
              </a:rPr>
              <a:t>Ekstraksi Fitur: Menggunakan arsitektur DenseNet201 yang telah dilatih sebelumnya (pre-trained) pada ImageNet.</a:t>
            </a:r>
          </a:p>
          <a:p>
            <a:pPr algn="just" marL="561342" indent="-280671" lvl="1">
              <a:lnSpc>
                <a:spcPts val="4134"/>
              </a:lnSpc>
              <a:buAutoNum type="arabicPeriod" startAt="1"/>
            </a:pPr>
            <a:r>
              <a:rPr lang="en-US" sz="2600">
                <a:solidFill>
                  <a:srgbClr val="000000"/>
                </a:solidFill>
                <a:latin typeface="Open Sauce"/>
                <a:ea typeface="Open Sauce"/>
                <a:cs typeface="Open Sauce"/>
                <a:sym typeface="Open Sauce"/>
              </a:rPr>
              <a:t>Pembagian Data: Memisahkan data menjadi data latih (training) dan data uji (testing).</a:t>
            </a:r>
          </a:p>
          <a:p>
            <a:pPr algn="just" marL="561342" indent="-280671" lvl="1">
              <a:lnSpc>
                <a:spcPts val="4134"/>
              </a:lnSpc>
              <a:buAutoNum type="arabicPeriod" startAt="1"/>
            </a:pPr>
            <a:r>
              <a:rPr lang="en-US" sz="2600">
                <a:solidFill>
                  <a:srgbClr val="000000"/>
                </a:solidFill>
                <a:latin typeface="Open Sauce"/>
                <a:ea typeface="Open Sauce"/>
                <a:cs typeface="Open Sauce"/>
                <a:sym typeface="Open Sauce"/>
              </a:rPr>
              <a:t>P</a:t>
            </a:r>
            <a:r>
              <a:rPr lang="en-US" sz="2600">
                <a:solidFill>
                  <a:srgbClr val="000000"/>
                </a:solidFill>
                <a:latin typeface="Open Sauce"/>
                <a:ea typeface="Open Sauce"/>
                <a:cs typeface="Open Sauce"/>
                <a:sym typeface="Open Sauce"/>
              </a:rPr>
              <a:t>embangunan Model Klasifikasi: Melatih model Logistic Regression (sebagai baseline), Random Forest, dan XGBoost.</a:t>
            </a:r>
          </a:p>
          <a:p>
            <a:pPr algn="just" marL="561342" indent="-280671" lvl="1">
              <a:lnSpc>
                <a:spcPts val="4134"/>
              </a:lnSpc>
              <a:buAutoNum type="arabicPeriod" startAt="1"/>
            </a:pPr>
            <a:r>
              <a:rPr lang="en-US" sz="2600">
                <a:solidFill>
                  <a:srgbClr val="000000"/>
                </a:solidFill>
                <a:latin typeface="Open Sauce"/>
                <a:ea typeface="Open Sauce"/>
                <a:cs typeface="Open Sauce"/>
                <a:sym typeface="Open Sauce"/>
              </a:rPr>
              <a:t>O</a:t>
            </a:r>
            <a:r>
              <a:rPr lang="en-US" sz="2600">
                <a:solidFill>
                  <a:srgbClr val="000000"/>
                </a:solidFill>
                <a:latin typeface="Open Sauce"/>
                <a:ea typeface="Open Sauce"/>
                <a:cs typeface="Open Sauce"/>
                <a:sym typeface="Open Sauce"/>
              </a:rPr>
              <a:t>ptimasi Hiperparameter: Mencari parameter terbaik untuk model XGBoost menggunakan validasi silang (cross-validation).</a:t>
            </a:r>
          </a:p>
          <a:p>
            <a:pPr algn="just" marL="561342" indent="-280671" lvl="1">
              <a:lnSpc>
                <a:spcPts val="4134"/>
              </a:lnSpc>
              <a:buAutoNum type="arabicPeriod" startAt="1"/>
            </a:pPr>
            <a:r>
              <a:rPr lang="en-US" sz="2600">
                <a:solidFill>
                  <a:srgbClr val="000000"/>
                </a:solidFill>
                <a:latin typeface="Open Sauce"/>
                <a:ea typeface="Open Sauce"/>
                <a:cs typeface="Open Sauce"/>
                <a:sym typeface="Open Sauce"/>
              </a:rPr>
              <a:t>E</a:t>
            </a:r>
            <a:r>
              <a:rPr lang="en-US" sz="2600">
                <a:solidFill>
                  <a:srgbClr val="000000"/>
                </a:solidFill>
                <a:latin typeface="Open Sauce"/>
                <a:ea typeface="Open Sauce"/>
                <a:cs typeface="Open Sauce"/>
                <a:sym typeface="Open Sauce"/>
              </a:rPr>
              <a:t>valuasi Model: Mengukur kinerja menggunakan Confusion Matrix, Accuracy, dan F1-Score.</a:t>
            </a:r>
          </a:p>
        </p:txBody>
      </p:sp>
      <p:grpSp>
        <p:nvGrpSpPr>
          <p:cNvPr name="Group 3" id="3"/>
          <p:cNvGrpSpPr/>
          <p:nvPr/>
        </p:nvGrpSpPr>
        <p:grpSpPr>
          <a:xfrm rot="0">
            <a:off x="0" y="-332430"/>
            <a:ext cx="18288000" cy="2307915"/>
            <a:chOff x="0" y="0"/>
            <a:chExt cx="3762963" cy="474880"/>
          </a:xfrm>
        </p:grpSpPr>
        <p:sp>
          <p:nvSpPr>
            <p:cNvPr name="Freeform 4" id="4"/>
            <p:cNvSpPr/>
            <p:nvPr/>
          </p:nvSpPr>
          <p:spPr>
            <a:xfrm flipH="false" flipV="false" rot="0">
              <a:off x="0" y="0"/>
              <a:ext cx="3762963" cy="474880"/>
            </a:xfrm>
            <a:custGeom>
              <a:avLst/>
              <a:gdLst/>
              <a:ahLst/>
              <a:cxnLst/>
              <a:rect r="r" b="b" t="t" l="l"/>
              <a:pathLst>
                <a:path h="474880" w="3762963">
                  <a:moveTo>
                    <a:pt x="8268" y="0"/>
                  </a:moveTo>
                  <a:lnTo>
                    <a:pt x="3754695" y="0"/>
                  </a:lnTo>
                  <a:cubicBezTo>
                    <a:pt x="3756888" y="0"/>
                    <a:pt x="3758991" y="871"/>
                    <a:pt x="3760541" y="2422"/>
                  </a:cubicBezTo>
                  <a:cubicBezTo>
                    <a:pt x="3762092" y="3972"/>
                    <a:pt x="3762963" y="6075"/>
                    <a:pt x="3762963" y="8268"/>
                  </a:cubicBezTo>
                  <a:lnTo>
                    <a:pt x="3762963" y="466611"/>
                  </a:lnTo>
                  <a:cubicBezTo>
                    <a:pt x="3762963" y="471178"/>
                    <a:pt x="3759261" y="474880"/>
                    <a:pt x="3754695" y="474880"/>
                  </a:cubicBezTo>
                  <a:lnTo>
                    <a:pt x="8268" y="474880"/>
                  </a:lnTo>
                  <a:cubicBezTo>
                    <a:pt x="3702" y="474880"/>
                    <a:pt x="0" y="471178"/>
                    <a:pt x="0" y="466611"/>
                  </a:cubicBezTo>
                  <a:lnTo>
                    <a:pt x="0" y="8268"/>
                  </a:lnTo>
                  <a:cubicBezTo>
                    <a:pt x="0" y="3702"/>
                    <a:pt x="3702" y="0"/>
                    <a:pt x="8268" y="0"/>
                  </a:cubicBezTo>
                  <a:close/>
                </a:path>
              </a:pathLst>
            </a:custGeom>
            <a:solidFill>
              <a:srgbClr val="016B67"/>
            </a:solidFill>
          </p:spPr>
        </p:sp>
        <p:sp>
          <p:nvSpPr>
            <p:cNvPr name="TextBox 5" id="5"/>
            <p:cNvSpPr txBox="true"/>
            <p:nvPr/>
          </p:nvSpPr>
          <p:spPr>
            <a:xfrm>
              <a:off x="0" y="-47625"/>
              <a:ext cx="3762963" cy="522505"/>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false" flipV="false" rot="0">
            <a:off x="1028700" y="2879284"/>
            <a:ext cx="2950512" cy="5989538"/>
          </a:xfrm>
          <a:custGeom>
            <a:avLst/>
            <a:gdLst/>
            <a:ahLst/>
            <a:cxnLst/>
            <a:rect r="r" b="b" t="t" l="l"/>
            <a:pathLst>
              <a:path h="5989538" w="2950512">
                <a:moveTo>
                  <a:pt x="0" y="0"/>
                </a:moveTo>
                <a:lnTo>
                  <a:pt x="2950512" y="0"/>
                </a:lnTo>
                <a:lnTo>
                  <a:pt x="2950512" y="5989539"/>
                </a:lnTo>
                <a:lnTo>
                  <a:pt x="0" y="5989539"/>
                </a:lnTo>
                <a:lnTo>
                  <a:pt x="0" y="0"/>
                </a:lnTo>
                <a:close/>
              </a:path>
            </a:pathLst>
          </a:custGeom>
          <a:blipFill>
            <a:blip r:embed="rId2"/>
            <a:stretch>
              <a:fillRect l="0" t="0" r="0" b="0"/>
            </a:stretch>
          </a:blipFill>
        </p:spPr>
      </p:sp>
      <p:sp>
        <p:nvSpPr>
          <p:cNvPr name="TextBox 7" id="7"/>
          <p:cNvSpPr txBox="true"/>
          <p:nvPr/>
        </p:nvSpPr>
        <p:spPr>
          <a:xfrm rot="0">
            <a:off x="1028700" y="286512"/>
            <a:ext cx="15430500" cy="1217295"/>
          </a:xfrm>
          <a:prstGeom prst="rect">
            <a:avLst/>
          </a:prstGeom>
        </p:spPr>
        <p:txBody>
          <a:bodyPr anchor="t" rtlCol="false" tIns="0" lIns="0" bIns="0" rIns="0">
            <a:spAutoFit/>
          </a:bodyPr>
          <a:lstStyle/>
          <a:p>
            <a:pPr algn="l" marL="0" indent="0" lvl="0">
              <a:lnSpc>
                <a:spcPts val="10080"/>
              </a:lnSpc>
              <a:spcBef>
                <a:spcPct val="0"/>
              </a:spcBef>
            </a:pPr>
            <a:r>
              <a:rPr lang="en-US" b="true" sz="7200">
                <a:solidFill>
                  <a:srgbClr val="FFFFFF"/>
                </a:solidFill>
                <a:latin typeface="Open Sauce Bold"/>
                <a:ea typeface="Open Sauce Bold"/>
                <a:cs typeface="Open Sauce Bold"/>
                <a:sym typeface="Open Sauce Bold"/>
              </a:rPr>
              <a:t>Metode Penelitian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32430"/>
            <a:ext cx="18288000" cy="2307915"/>
            <a:chOff x="0" y="0"/>
            <a:chExt cx="3762963" cy="474880"/>
          </a:xfrm>
        </p:grpSpPr>
        <p:sp>
          <p:nvSpPr>
            <p:cNvPr name="Freeform 3" id="3"/>
            <p:cNvSpPr/>
            <p:nvPr/>
          </p:nvSpPr>
          <p:spPr>
            <a:xfrm flipH="false" flipV="false" rot="0">
              <a:off x="0" y="0"/>
              <a:ext cx="3762963" cy="474880"/>
            </a:xfrm>
            <a:custGeom>
              <a:avLst/>
              <a:gdLst/>
              <a:ahLst/>
              <a:cxnLst/>
              <a:rect r="r" b="b" t="t" l="l"/>
              <a:pathLst>
                <a:path h="474880" w="3762963">
                  <a:moveTo>
                    <a:pt x="8268" y="0"/>
                  </a:moveTo>
                  <a:lnTo>
                    <a:pt x="3754695" y="0"/>
                  </a:lnTo>
                  <a:cubicBezTo>
                    <a:pt x="3756888" y="0"/>
                    <a:pt x="3758991" y="871"/>
                    <a:pt x="3760541" y="2422"/>
                  </a:cubicBezTo>
                  <a:cubicBezTo>
                    <a:pt x="3762092" y="3972"/>
                    <a:pt x="3762963" y="6075"/>
                    <a:pt x="3762963" y="8268"/>
                  </a:cubicBezTo>
                  <a:lnTo>
                    <a:pt x="3762963" y="466611"/>
                  </a:lnTo>
                  <a:cubicBezTo>
                    <a:pt x="3762963" y="471178"/>
                    <a:pt x="3759261" y="474880"/>
                    <a:pt x="3754695" y="474880"/>
                  </a:cubicBezTo>
                  <a:lnTo>
                    <a:pt x="8268" y="474880"/>
                  </a:lnTo>
                  <a:cubicBezTo>
                    <a:pt x="3702" y="474880"/>
                    <a:pt x="0" y="471178"/>
                    <a:pt x="0" y="466611"/>
                  </a:cubicBezTo>
                  <a:lnTo>
                    <a:pt x="0" y="8268"/>
                  </a:lnTo>
                  <a:cubicBezTo>
                    <a:pt x="0" y="3702"/>
                    <a:pt x="3702" y="0"/>
                    <a:pt x="8268" y="0"/>
                  </a:cubicBezTo>
                  <a:close/>
                </a:path>
              </a:pathLst>
            </a:custGeom>
            <a:solidFill>
              <a:srgbClr val="016B67"/>
            </a:solidFill>
          </p:spPr>
        </p:sp>
        <p:sp>
          <p:nvSpPr>
            <p:cNvPr name="TextBox 4" id="4"/>
            <p:cNvSpPr txBox="true"/>
            <p:nvPr/>
          </p:nvSpPr>
          <p:spPr>
            <a:xfrm>
              <a:off x="0" y="-47625"/>
              <a:ext cx="3762963" cy="522505"/>
            </a:xfrm>
            <a:prstGeom prst="rect">
              <a:avLst/>
            </a:prstGeom>
          </p:spPr>
          <p:txBody>
            <a:bodyPr anchor="ctr" rtlCol="false" tIns="50800" lIns="50800" bIns="50800" rIns="50800"/>
            <a:lstStyle/>
            <a:p>
              <a:pPr algn="ctr">
                <a:lnSpc>
                  <a:spcPts val="2800"/>
                </a:lnSpc>
              </a:pPr>
            </a:p>
          </p:txBody>
        </p:sp>
      </p:grpSp>
      <p:sp>
        <p:nvSpPr>
          <p:cNvPr name="Freeform 5" id="5"/>
          <p:cNvSpPr/>
          <p:nvPr/>
        </p:nvSpPr>
        <p:spPr>
          <a:xfrm flipH="false" flipV="false" rot="0">
            <a:off x="2116684" y="2888467"/>
            <a:ext cx="14054632" cy="2951473"/>
          </a:xfrm>
          <a:custGeom>
            <a:avLst/>
            <a:gdLst/>
            <a:ahLst/>
            <a:cxnLst/>
            <a:rect r="r" b="b" t="t" l="l"/>
            <a:pathLst>
              <a:path h="2951473" w="14054632">
                <a:moveTo>
                  <a:pt x="0" y="0"/>
                </a:moveTo>
                <a:lnTo>
                  <a:pt x="14054632" y="0"/>
                </a:lnTo>
                <a:lnTo>
                  <a:pt x="14054632" y="2951473"/>
                </a:lnTo>
                <a:lnTo>
                  <a:pt x="0" y="2951473"/>
                </a:lnTo>
                <a:lnTo>
                  <a:pt x="0" y="0"/>
                </a:lnTo>
                <a:close/>
              </a:path>
            </a:pathLst>
          </a:custGeom>
          <a:blipFill>
            <a:blip r:embed="rId2"/>
            <a:stretch>
              <a:fillRect l="0" t="0" r="0" b="0"/>
            </a:stretch>
          </a:blipFill>
        </p:spPr>
      </p:sp>
      <p:sp>
        <p:nvSpPr>
          <p:cNvPr name="TextBox 6" id="6"/>
          <p:cNvSpPr txBox="true"/>
          <p:nvPr/>
        </p:nvSpPr>
        <p:spPr>
          <a:xfrm rot="0">
            <a:off x="1420308" y="6164237"/>
            <a:ext cx="15447384" cy="2657475"/>
          </a:xfrm>
          <a:prstGeom prst="rect">
            <a:avLst/>
          </a:prstGeom>
        </p:spPr>
        <p:txBody>
          <a:bodyPr anchor="t" rtlCol="false" tIns="0" lIns="0" bIns="0" rIns="0">
            <a:spAutoFit/>
          </a:bodyPr>
          <a:lstStyle/>
          <a:p>
            <a:pPr algn="just" marL="647700" indent="-323850" lvl="1">
              <a:lnSpc>
                <a:spcPts val="4200"/>
              </a:lnSpc>
              <a:buFont typeface="Arial"/>
              <a:buChar char="•"/>
            </a:pPr>
            <a:r>
              <a:rPr lang="en-US" b="true" sz="3000">
                <a:solidFill>
                  <a:srgbClr val="000000"/>
                </a:solidFill>
                <a:latin typeface="Open Sauce Bold"/>
                <a:ea typeface="Open Sauce Bold"/>
                <a:cs typeface="Open Sauce Bold"/>
                <a:sym typeface="Open Sauce Bold"/>
              </a:rPr>
              <a:t>Sumb</a:t>
            </a:r>
            <a:r>
              <a:rPr lang="en-US" b="true" sz="3000">
                <a:solidFill>
                  <a:srgbClr val="000000"/>
                </a:solidFill>
                <a:latin typeface="Open Sauce Bold"/>
                <a:ea typeface="Open Sauce Bold"/>
                <a:cs typeface="Open Sauce Bold"/>
                <a:sym typeface="Open Sauce Bold"/>
              </a:rPr>
              <a:t>er Data: </a:t>
            </a:r>
            <a:r>
              <a:rPr lang="en-US" sz="3000">
                <a:solidFill>
                  <a:srgbClr val="000000"/>
                </a:solidFill>
                <a:latin typeface="Open Sauce"/>
                <a:ea typeface="Open Sauce"/>
                <a:cs typeface="Open Sauce"/>
                <a:sym typeface="Open Sauce"/>
              </a:rPr>
              <a:t>Kaggle (Rice Leaf Images).</a:t>
            </a:r>
          </a:p>
          <a:p>
            <a:pPr algn="just" marL="647700" indent="-323850" lvl="1">
              <a:lnSpc>
                <a:spcPts val="4200"/>
              </a:lnSpc>
              <a:buFont typeface="Arial"/>
              <a:buChar char="•"/>
            </a:pPr>
            <a:r>
              <a:rPr lang="en-US" b="true" sz="3000">
                <a:solidFill>
                  <a:srgbClr val="000000"/>
                </a:solidFill>
                <a:latin typeface="Open Sauce Bold"/>
                <a:ea typeface="Open Sauce Bold"/>
                <a:cs typeface="Open Sauce Bold"/>
                <a:sym typeface="Open Sauce Bold"/>
              </a:rPr>
              <a:t>Ju</a:t>
            </a:r>
            <a:r>
              <a:rPr lang="en-US" b="true" sz="3000">
                <a:solidFill>
                  <a:srgbClr val="000000"/>
                </a:solidFill>
                <a:latin typeface="Open Sauce Bold"/>
                <a:ea typeface="Open Sauce Bold"/>
                <a:cs typeface="Open Sauce Bold"/>
                <a:sym typeface="Open Sauce Bold"/>
              </a:rPr>
              <a:t>mlah Data: </a:t>
            </a:r>
            <a:r>
              <a:rPr lang="en-US" sz="3000">
                <a:solidFill>
                  <a:srgbClr val="000000"/>
                </a:solidFill>
                <a:latin typeface="Open Sauce"/>
                <a:ea typeface="Open Sauce"/>
                <a:cs typeface="Open Sauce"/>
                <a:sym typeface="Open Sauce"/>
              </a:rPr>
              <a:t>3,355 Citra.</a:t>
            </a:r>
          </a:p>
          <a:p>
            <a:pPr algn="just" marL="647700" indent="-323850" lvl="1">
              <a:lnSpc>
                <a:spcPts val="4200"/>
              </a:lnSpc>
              <a:buFont typeface="Arial"/>
              <a:buChar char="•"/>
            </a:pPr>
            <a:r>
              <a:rPr lang="en-US" b="true" sz="3000">
                <a:solidFill>
                  <a:srgbClr val="000000"/>
                </a:solidFill>
                <a:latin typeface="Open Sauce Bold"/>
                <a:ea typeface="Open Sauce Bold"/>
                <a:cs typeface="Open Sauce Bold"/>
                <a:sym typeface="Open Sauce Bold"/>
              </a:rPr>
              <a:t>K</a:t>
            </a:r>
            <a:r>
              <a:rPr lang="en-US" b="true" sz="3000">
                <a:solidFill>
                  <a:srgbClr val="000000"/>
                </a:solidFill>
                <a:latin typeface="Open Sauce Bold"/>
                <a:ea typeface="Open Sauce Bold"/>
                <a:cs typeface="Open Sauce Bold"/>
                <a:sym typeface="Open Sauce Bold"/>
              </a:rPr>
              <a:t>elas: </a:t>
            </a:r>
            <a:r>
              <a:rPr lang="en-US" sz="3000">
                <a:solidFill>
                  <a:srgbClr val="000000"/>
                </a:solidFill>
                <a:latin typeface="Open Sauce"/>
                <a:ea typeface="Open Sauce"/>
                <a:cs typeface="Open Sauce"/>
                <a:sym typeface="Open Sauce"/>
              </a:rPr>
              <a:t>4 Kategori.</a:t>
            </a:r>
          </a:p>
          <a:p>
            <a:pPr algn="just" marL="647700" indent="-323850" lvl="1">
              <a:lnSpc>
                <a:spcPts val="4200"/>
              </a:lnSpc>
              <a:buFont typeface="Arial"/>
              <a:buChar char="•"/>
            </a:pPr>
            <a:r>
              <a:rPr lang="en-US" b="true" sz="3000">
                <a:solidFill>
                  <a:srgbClr val="000000"/>
                </a:solidFill>
                <a:latin typeface="Open Sauce Bold"/>
                <a:ea typeface="Open Sauce Bold"/>
                <a:cs typeface="Open Sauce Bold"/>
                <a:sym typeface="Open Sauce Bold"/>
              </a:rPr>
              <a:t>Link: </a:t>
            </a:r>
            <a:r>
              <a:rPr lang="en-US" sz="3000">
                <a:solidFill>
                  <a:srgbClr val="000000"/>
                </a:solidFill>
                <a:latin typeface="Open Sauce"/>
                <a:ea typeface="Open Sauce"/>
                <a:cs typeface="Open Sauce"/>
                <a:sym typeface="Open Sauce"/>
              </a:rPr>
              <a:t>https://www.kaggle.com/datasets/nizorogbezuode/rice-leaf-images </a:t>
            </a:r>
          </a:p>
          <a:p>
            <a:pPr algn="just">
              <a:lnSpc>
                <a:spcPts val="4200"/>
              </a:lnSpc>
              <a:spcBef>
                <a:spcPct val="0"/>
              </a:spcBef>
            </a:pPr>
          </a:p>
        </p:txBody>
      </p:sp>
      <p:sp>
        <p:nvSpPr>
          <p:cNvPr name="TextBox 7" id="7"/>
          <p:cNvSpPr txBox="true"/>
          <p:nvPr/>
        </p:nvSpPr>
        <p:spPr>
          <a:xfrm rot="0">
            <a:off x="1028700" y="286512"/>
            <a:ext cx="15430500" cy="1217295"/>
          </a:xfrm>
          <a:prstGeom prst="rect">
            <a:avLst/>
          </a:prstGeom>
        </p:spPr>
        <p:txBody>
          <a:bodyPr anchor="t" rtlCol="false" tIns="0" lIns="0" bIns="0" rIns="0">
            <a:spAutoFit/>
          </a:bodyPr>
          <a:lstStyle/>
          <a:p>
            <a:pPr algn="l" marL="0" indent="0" lvl="0">
              <a:lnSpc>
                <a:spcPts val="10080"/>
              </a:lnSpc>
              <a:spcBef>
                <a:spcPct val="0"/>
              </a:spcBef>
            </a:pPr>
            <a:r>
              <a:rPr lang="en-US" b="true" sz="7200">
                <a:solidFill>
                  <a:srgbClr val="FFFFFF"/>
                </a:solidFill>
                <a:latin typeface="Open Sauce Bold"/>
                <a:ea typeface="Open Sauce Bold"/>
                <a:cs typeface="Open Sauce Bold"/>
                <a:sym typeface="Open Sauce Bold"/>
              </a:rPr>
              <a:t>Dataset</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86072" y="3122945"/>
            <a:ext cx="15447384" cy="5324475"/>
          </a:xfrm>
          <a:prstGeom prst="rect">
            <a:avLst/>
          </a:prstGeom>
        </p:spPr>
        <p:txBody>
          <a:bodyPr anchor="t" rtlCol="false" tIns="0" lIns="0" bIns="0" rIns="0">
            <a:spAutoFit/>
          </a:bodyPr>
          <a:lstStyle/>
          <a:p>
            <a:pPr algn="just">
              <a:lnSpc>
                <a:spcPts val="4200"/>
              </a:lnSpc>
            </a:pPr>
            <a:r>
              <a:rPr lang="en-US" sz="3000" b="true">
                <a:solidFill>
                  <a:srgbClr val="000000"/>
                </a:solidFill>
                <a:latin typeface="Open Sauce Bold"/>
                <a:ea typeface="Open Sauce Bold"/>
                <a:cs typeface="Open Sauce Bold"/>
                <a:sym typeface="Open Sauce Bold"/>
              </a:rPr>
              <a:t>DenseNet201 (Feature Extractor):</a:t>
            </a:r>
          </a:p>
          <a:p>
            <a:pPr algn="just" marL="647700" indent="-323850" lvl="1">
              <a:lnSpc>
                <a:spcPts val="4200"/>
              </a:lnSpc>
              <a:buFont typeface="Arial"/>
              <a:buChar char="•"/>
            </a:pPr>
            <a:r>
              <a:rPr lang="en-US" sz="3000">
                <a:solidFill>
                  <a:srgbClr val="000000"/>
                </a:solidFill>
                <a:latin typeface="Open Sauce"/>
                <a:ea typeface="Open Sauce"/>
                <a:cs typeface="Open Sauce"/>
                <a:sym typeface="Open Sauce"/>
              </a:rPr>
              <a:t>Keun</a:t>
            </a:r>
            <a:r>
              <a:rPr lang="en-US" sz="3000">
                <a:solidFill>
                  <a:srgbClr val="000000"/>
                </a:solidFill>
                <a:latin typeface="Open Sauce"/>
                <a:ea typeface="Open Sauce"/>
                <a:cs typeface="Open Sauce"/>
                <a:sym typeface="Open Sauce"/>
              </a:rPr>
              <a:t>ggulan: Arsitektur dense connection memungkinkan aliran informasi yang efisien dan penggunaan fitur yang lebih kaya.</a:t>
            </a:r>
          </a:p>
          <a:p>
            <a:pPr algn="just" marL="647700" indent="-323850" lvl="1">
              <a:lnSpc>
                <a:spcPts val="4200"/>
              </a:lnSpc>
              <a:buFont typeface="Arial"/>
              <a:buChar char="•"/>
            </a:pPr>
            <a:r>
              <a:rPr lang="en-US" sz="3000">
                <a:solidFill>
                  <a:srgbClr val="000000"/>
                </a:solidFill>
                <a:latin typeface="Open Sauce"/>
                <a:ea typeface="Open Sauce"/>
                <a:cs typeface="Open Sauce"/>
                <a:sym typeface="Open Sauce"/>
              </a:rPr>
              <a:t>Peran: Mengubah gambar mentah menjadi vektor fitur numerik yang kompleks.</a:t>
            </a:r>
          </a:p>
          <a:p>
            <a:pPr algn="just">
              <a:lnSpc>
                <a:spcPts val="4200"/>
              </a:lnSpc>
            </a:pPr>
          </a:p>
          <a:p>
            <a:pPr algn="just">
              <a:lnSpc>
                <a:spcPts val="4200"/>
              </a:lnSpc>
            </a:pPr>
            <a:r>
              <a:rPr lang="en-US" sz="3000" b="true">
                <a:solidFill>
                  <a:srgbClr val="000000"/>
                </a:solidFill>
                <a:latin typeface="Open Sauce Bold"/>
                <a:ea typeface="Open Sauce Bold"/>
                <a:cs typeface="Open Sauce Bold"/>
                <a:sym typeface="Open Sauce Bold"/>
              </a:rPr>
              <a:t>XGBoost (Classifier):</a:t>
            </a:r>
          </a:p>
          <a:p>
            <a:pPr algn="just" marL="647700" indent="-323850" lvl="1">
              <a:lnSpc>
                <a:spcPts val="4200"/>
              </a:lnSpc>
              <a:buFont typeface="Arial"/>
              <a:buChar char="•"/>
            </a:pPr>
            <a:r>
              <a:rPr lang="en-US" sz="3000">
                <a:solidFill>
                  <a:srgbClr val="000000"/>
                </a:solidFill>
                <a:latin typeface="Open Sauce"/>
                <a:ea typeface="Open Sauce"/>
                <a:cs typeface="Open Sauce"/>
                <a:sym typeface="Open Sauce"/>
              </a:rPr>
              <a:t>K</a:t>
            </a:r>
            <a:r>
              <a:rPr lang="en-US" sz="3000">
                <a:solidFill>
                  <a:srgbClr val="000000"/>
                </a:solidFill>
                <a:latin typeface="Open Sauce"/>
                <a:ea typeface="Open Sauce"/>
                <a:cs typeface="Open Sauce"/>
                <a:sym typeface="Open Sauce"/>
              </a:rPr>
              <a:t>eunggulan: Lebih cepat dan akurat dibanding Random Forest pada data terstruktur, serta memiliki regulasi untuk mencegah overfitting.</a:t>
            </a:r>
          </a:p>
          <a:p>
            <a:pPr algn="just" marL="647700" indent="-323850" lvl="1">
              <a:lnSpc>
                <a:spcPts val="4200"/>
              </a:lnSpc>
              <a:buFont typeface="Arial"/>
              <a:buChar char="•"/>
            </a:pPr>
            <a:r>
              <a:rPr lang="en-US" sz="3000">
                <a:solidFill>
                  <a:srgbClr val="000000"/>
                </a:solidFill>
                <a:latin typeface="Open Sauce"/>
                <a:ea typeface="Open Sauce"/>
                <a:cs typeface="Open Sauce"/>
                <a:sym typeface="Open Sauce"/>
              </a:rPr>
              <a:t>P</a:t>
            </a:r>
            <a:r>
              <a:rPr lang="en-US" sz="3000">
                <a:solidFill>
                  <a:srgbClr val="000000"/>
                </a:solidFill>
                <a:latin typeface="Open Sauce"/>
                <a:ea typeface="Open Sauce"/>
                <a:cs typeface="Open Sauce"/>
                <a:sym typeface="Open Sauce"/>
              </a:rPr>
              <a:t>eran: Mengklasifikasikan vektor fitur ke dalam 4 kelas penyakit.</a:t>
            </a:r>
          </a:p>
          <a:p>
            <a:pPr algn="just">
              <a:lnSpc>
                <a:spcPts val="4200"/>
              </a:lnSpc>
              <a:spcBef>
                <a:spcPct val="0"/>
              </a:spcBef>
            </a:pPr>
          </a:p>
        </p:txBody>
      </p:sp>
      <p:grpSp>
        <p:nvGrpSpPr>
          <p:cNvPr name="Group 3" id="3"/>
          <p:cNvGrpSpPr/>
          <p:nvPr/>
        </p:nvGrpSpPr>
        <p:grpSpPr>
          <a:xfrm rot="0">
            <a:off x="0" y="-332430"/>
            <a:ext cx="18288000" cy="2307915"/>
            <a:chOff x="0" y="0"/>
            <a:chExt cx="3762963" cy="474880"/>
          </a:xfrm>
        </p:grpSpPr>
        <p:sp>
          <p:nvSpPr>
            <p:cNvPr name="Freeform 4" id="4"/>
            <p:cNvSpPr/>
            <p:nvPr/>
          </p:nvSpPr>
          <p:spPr>
            <a:xfrm flipH="false" flipV="false" rot="0">
              <a:off x="0" y="0"/>
              <a:ext cx="3762963" cy="474880"/>
            </a:xfrm>
            <a:custGeom>
              <a:avLst/>
              <a:gdLst/>
              <a:ahLst/>
              <a:cxnLst/>
              <a:rect r="r" b="b" t="t" l="l"/>
              <a:pathLst>
                <a:path h="474880" w="3762963">
                  <a:moveTo>
                    <a:pt x="8268" y="0"/>
                  </a:moveTo>
                  <a:lnTo>
                    <a:pt x="3754695" y="0"/>
                  </a:lnTo>
                  <a:cubicBezTo>
                    <a:pt x="3756888" y="0"/>
                    <a:pt x="3758991" y="871"/>
                    <a:pt x="3760541" y="2422"/>
                  </a:cubicBezTo>
                  <a:cubicBezTo>
                    <a:pt x="3762092" y="3972"/>
                    <a:pt x="3762963" y="6075"/>
                    <a:pt x="3762963" y="8268"/>
                  </a:cubicBezTo>
                  <a:lnTo>
                    <a:pt x="3762963" y="466611"/>
                  </a:lnTo>
                  <a:cubicBezTo>
                    <a:pt x="3762963" y="471178"/>
                    <a:pt x="3759261" y="474880"/>
                    <a:pt x="3754695" y="474880"/>
                  </a:cubicBezTo>
                  <a:lnTo>
                    <a:pt x="8268" y="474880"/>
                  </a:lnTo>
                  <a:cubicBezTo>
                    <a:pt x="3702" y="474880"/>
                    <a:pt x="0" y="471178"/>
                    <a:pt x="0" y="466611"/>
                  </a:cubicBezTo>
                  <a:lnTo>
                    <a:pt x="0" y="8268"/>
                  </a:lnTo>
                  <a:cubicBezTo>
                    <a:pt x="0" y="3702"/>
                    <a:pt x="3702" y="0"/>
                    <a:pt x="8268" y="0"/>
                  </a:cubicBezTo>
                  <a:close/>
                </a:path>
              </a:pathLst>
            </a:custGeom>
            <a:solidFill>
              <a:srgbClr val="016B67"/>
            </a:solidFill>
          </p:spPr>
        </p:sp>
        <p:sp>
          <p:nvSpPr>
            <p:cNvPr name="TextBox 5" id="5"/>
            <p:cNvSpPr txBox="true"/>
            <p:nvPr/>
          </p:nvSpPr>
          <p:spPr>
            <a:xfrm>
              <a:off x="0" y="-47625"/>
              <a:ext cx="3762963" cy="522505"/>
            </a:xfrm>
            <a:prstGeom prst="rect">
              <a:avLst/>
            </a:prstGeom>
          </p:spPr>
          <p:txBody>
            <a:bodyPr anchor="ctr" rtlCol="false" tIns="50800" lIns="50800" bIns="50800" rIns="50800"/>
            <a:lstStyle/>
            <a:p>
              <a:pPr algn="ctr">
                <a:lnSpc>
                  <a:spcPts val="2800"/>
                </a:lnSpc>
              </a:pPr>
            </a:p>
          </p:txBody>
        </p:sp>
      </p:grpSp>
      <p:sp>
        <p:nvSpPr>
          <p:cNvPr name="TextBox 6" id="6"/>
          <p:cNvSpPr txBox="true"/>
          <p:nvPr/>
        </p:nvSpPr>
        <p:spPr>
          <a:xfrm rot="0">
            <a:off x="1028700" y="286512"/>
            <a:ext cx="15430500" cy="1217295"/>
          </a:xfrm>
          <a:prstGeom prst="rect">
            <a:avLst/>
          </a:prstGeom>
        </p:spPr>
        <p:txBody>
          <a:bodyPr anchor="t" rtlCol="false" tIns="0" lIns="0" bIns="0" rIns="0">
            <a:spAutoFit/>
          </a:bodyPr>
          <a:lstStyle/>
          <a:p>
            <a:pPr algn="l" marL="0" indent="0" lvl="0">
              <a:lnSpc>
                <a:spcPts val="10080"/>
              </a:lnSpc>
              <a:spcBef>
                <a:spcPct val="0"/>
              </a:spcBef>
            </a:pPr>
            <a:r>
              <a:rPr lang="en-US" b="true" sz="7200">
                <a:solidFill>
                  <a:srgbClr val="FFFFFF"/>
                </a:solidFill>
                <a:latin typeface="Open Sauce Bold"/>
                <a:ea typeface="Open Sauce Bold"/>
                <a:cs typeface="Open Sauce Bold"/>
                <a:sym typeface="Open Sauce Bold"/>
              </a:rPr>
              <a:t>DenseNet201 &amp; XGBoost</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420308" y="3495348"/>
            <a:ext cx="15447384" cy="4257675"/>
          </a:xfrm>
          <a:prstGeom prst="rect">
            <a:avLst/>
          </a:prstGeom>
        </p:spPr>
        <p:txBody>
          <a:bodyPr anchor="t" rtlCol="false" tIns="0" lIns="0" bIns="0" rIns="0">
            <a:spAutoFit/>
          </a:bodyPr>
          <a:lstStyle/>
          <a:p>
            <a:pPr algn="just">
              <a:lnSpc>
                <a:spcPts val="4200"/>
              </a:lnSpc>
            </a:pPr>
            <a:r>
              <a:rPr lang="en-US" sz="3000" b="true">
                <a:solidFill>
                  <a:srgbClr val="000000"/>
                </a:solidFill>
                <a:latin typeface="Open Sauce Bold"/>
                <a:ea typeface="Open Sauce Bold"/>
                <a:cs typeface="Open Sauce Bold"/>
                <a:sym typeface="Open Sauce Bold"/>
              </a:rPr>
              <a:t>Data Split: </a:t>
            </a:r>
            <a:r>
              <a:rPr lang="en-US" sz="3000">
                <a:solidFill>
                  <a:srgbClr val="000000"/>
                </a:solidFill>
                <a:latin typeface="Open Sauce"/>
                <a:ea typeface="Open Sauce"/>
                <a:cs typeface="Open Sauce"/>
                <a:sym typeface="Open Sauce"/>
              </a:rPr>
              <a:t>80% Tr</a:t>
            </a:r>
            <a:r>
              <a:rPr lang="en-US" sz="3000">
                <a:solidFill>
                  <a:srgbClr val="000000"/>
                </a:solidFill>
                <a:latin typeface="Open Sauce"/>
                <a:ea typeface="Open Sauce"/>
                <a:cs typeface="Open Sauce"/>
                <a:sym typeface="Open Sauce"/>
              </a:rPr>
              <a:t>aining, 20% Testing (Stratified).</a:t>
            </a:r>
          </a:p>
          <a:p>
            <a:pPr algn="just">
              <a:lnSpc>
                <a:spcPts val="4200"/>
              </a:lnSpc>
            </a:pPr>
            <a:r>
              <a:rPr lang="en-US" sz="3000" b="true">
                <a:solidFill>
                  <a:srgbClr val="000000"/>
                </a:solidFill>
                <a:latin typeface="Open Sauce Bold"/>
                <a:ea typeface="Open Sauce Bold"/>
                <a:cs typeface="Open Sauce Bold"/>
                <a:sym typeface="Open Sauce Bold"/>
              </a:rPr>
              <a:t>Model Pembanding (Baseline):</a:t>
            </a:r>
          </a:p>
          <a:p>
            <a:pPr algn="just" marL="647700" indent="-323850" lvl="1">
              <a:lnSpc>
                <a:spcPts val="4200"/>
              </a:lnSpc>
              <a:buFont typeface="Arial"/>
              <a:buChar char="•"/>
            </a:pPr>
            <a:r>
              <a:rPr lang="en-US" sz="3000">
                <a:solidFill>
                  <a:srgbClr val="000000"/>
                </a:solidFill>
                <a:latin typeface="Open Sauce"/>
                <a:ea typeface="Open Sauce"/>
                <a:cs typeface="Open Sauce"/>
                <a:sym typeface="Open Sauce"/>
              </a:rPr>
              <a:t>Logistic Regression.</a:t>
            </a:r>
          </a:p>
          <a:p>
            <a:pPr algn="just" marL="647700" indent="-323850" lvl="1">
              <a:lnSpc>
                <a:spcPts val="4200"/>
              </a:lnSpc>
              <a:buFont typeface="Arial"/>
              <a:buChar char="•"/>
            </a:pPr>
            <a:r>
              <a:rPr lang="en-US" sz="3000">
                <a:solidFill>
                  <a:srgbClr val="000000"/>
                </a:solidFill>
                <a:latin typeface="Open Sauce"/>
                <a:ea typeface="Open Sauce"/>
                <a:cs typeface="Open Sauce"/>
                <a:sym typeface="Open Sauce"/>
              </a:rPr>
              <a:t>R</a:t>
            </a:r>
            <a:r>
              <a:rPr lang="en-US" sz="3000">
                <a:solidFill>
                  <a:srgbClr val="000000"/>
                </a:solidFill>
                <a:latin typeface="Open Sauce"/>
                <a:ea typeface="Open Sauce"/>
                <a:cs typeface="Open Sauce"/>
                <a:sym typeface="Open Sauce"/>
              </a:rPr>
              <a:t>andom Forest Classifier.</a:t>
            </a:r>
          </a:p>
          <a:p>
            <a:pPr algn="just">
              <a:lnSpc>
                <a:spcPts val="4200"/>
              </a:lnSpc>
            </a:pPr>
            <a:r>
              <a:rPr lang="en-US" sz="3000" b="true">
                <a:solidFill>
                  <a:srgbClr val="000000"/>
                </a:solidFill>
                <a:latin typeface="Open Sauce Bold"/>
                <a:ea typeface="Open Sauce Bold"/>
                <a:cs typeface="Open Sauce Bold"/>
                <a:sym typeface="Open Sauce Bold"/>
              </a:rPr>
              <a:t>Model Usulan:</a:t>
            </a:r>
          </a:p>
          <a:p>
            <a:pPr algn="just" marL="647700" indent="-323850" lvl="1">
              <a:lnSpc>
                <a:spcPts val="4200"/>
              </a:lnSpc>
              <a:buFont typeface="Arial"/>
              <a:buChar char="•"/>
            </a:pPr>
            <a:r>
              <a:rPr lang="en-US" sz="3000">
                <a:solidFill>
                  <a:srgbClr val="000000"/>
                </a:solidFill>
                <a:latin typeface="Open Sauce"/>
                <a:ea typeface="Open Sauce"/>
                <a:cs typeface="Open Sauce"/>
                <a:sym typeface="Open Sauce"/>
              </a:rPr>
              <a:t>XGBoost (Default).</a:t>
            </a:r>
          </a:p>
          <a:p>
            <a:pPr algn="just" marL="647700" indent="-323850" lvl="1">
              <a:lnSpc>
                <a:spcPts val="4200"/>
              </a:lnSpc>
              <a:buFont typeface="Arial"/>
              <a:buChar char="•"/>
            </a:pPr>
            <a:r>
              <a:rPr lang="en-US" sz="3000">
                <a:solidFill>
                  <a:srgbClr val="000000"/>
                </a:solidFill>
                <a:latin typeface="Open Sauce"/>
                <a:ea typeface="Open Sauce"/>
                <a:cs typeface="Open Sauce"/>
                <a:sym typeface="Open Sauce"/>
              </a:rPr>
              <a:t>XGBo</a:t>
            </a:r>
            <a:r>
              <a:rPr lang="en-US" sz="3000">
                <a:solidFill>
                  <a:srgbClr val="000000"/>
                </a:solidFill>
                <a:latin typeface="Open Sauce"/>
                <a:ea typeface="Open Sauce"/>
                <a:cs typeface="Open Sauce"/>
                <a:sym typeface="Open Sauce"/>
              </a:rPr>
              <a:t>ost (Hyperparameter Tuning dengan Grid Search).</a:t>
            </a:r>
          </a:p>
          <a:p>
            <a:pPr algn="just">
              <a:lnSpc>
                <a:spcPts val="4200"/>
              </a:lnSpc>
              <a:spcBef>
                <a:spcPct val="0"/>
              </a:spcBef>
            </a:pPr>
          </a:p>
        </p:txBody>
      </p:sp>
      <p:grpSp>
        <p:nvGrpSpPr>
          <p:cNvPr name="Group 3" id="3"/>
          <p:cNvGrpSpPr/>
          <p:nvPr/>
        </p:nvGrpSpPr>
        <p:grpSpPr>
          <a:xfrm rot="0">
            <a:off x="0" y="-332430"/>
            <a:ext cx="18288000" cy="2307915"/>
            <a:chOff x="0" y="0"/>
            <a:chExt cx="3762963" cy="474880"/>
          </a:xfrm>
        </p:grpSpPr>
        <p:sp>
          <p:nvSpPr>
            <p:cNvPr name="Freeform 4" id="4"/>
            <p:cNvSpPr/>
            <p:nvPr/>
          </p:nvSpPr>
          <p:spPr>
            <a:xfrm flipH="false" flipV="false" rot="0">
              <a:off x="0" y="0"/>
              <a:ext cx="3762963" cy="474880"/>
            </a:xfrm>
            <a:custGeom>
              <a:avLst/>
              <a:gdLst/>
              <a:ahLst/>
              <a:cxnLst/>
              <a:rect r="r" b="b" t="t" l="l"/>
              <a:pathLst>
                <a:path h="474880" w="3762963">
                  <a:moveTo>
                    <a:pt x="8268" y="0"/>
                  </a:moveTo>
                  <a:lnTo>
                    <a:pt x="3754695" y="0"/>
                  </a:lnTo>
                  <a:cubicBezTo>
                    <a:pt x="3756888" y="0"/>
                    <a:pt x="3758991" y="871"/>
                    <a:pt x="3760541" y="2422"/>
                  </a:cubicBezTo>
                  <a:cubicBezTo>
                    <a:pt x="3762092" y="3972"/>
                    <a:pt x="3762963" y="6075"/>
                    <a:pt x="3762963" y="8268"/>
                  </a:cubicBezTo>
                  <a:lnTo>
                    <a:pt x="3762963" y="466611"/>
                  </a:lnTo>
                  <a:cubicBezTo>
                    <a:pt x="3762963" y="471178"/>
                    <a:pt x="3759261" y="474880"/>
                    <a:pt x="3754695" y="474880"/>
                  </a:cubicBezTo>
                  <a:lnTo>
                    <a:pt x="8268" y="474880"/>
                  </a:lnTo>
                  <a:cubicBezTo>
                    <a:pt x="3702" y="474880"/>
                    <a:pt x="0" y="471178"/>
                    <a:pt x="0" y="466611"/>
                  </a:cubicBezTo>
                  <a:lnTo>
                    <a:pt x="0" y="8268"/>
                  </a:lnTo>
                  <a:cubicBezTo>
                    <a:pt x="0" y="3702"/>
                    <a:pt x="3702" y="0"/>
                    <a:pt x="8268" y="0"/>
                  </a:cubicBezTo>
                  <a:close/>
                </a:path>
              </a:pathLst>
            </a:custGeom>
            <a:solidFill>
              <a:srgbClr val="016B67"/>
            </a:solidFill>
          </p:spPr>
        </p:sp>
        <p:sp>
          <p:nvSpPr>
            <p:cNvPr name="TextBox 5" id="5"/>
            <p:cNvSpPr txBox="true"/>
            <p:nvPr/>
          </p:nvSpPr>
          <p:spPr>
            <a:xfrm>
              <a:off x="0" y="-47625"/>
              <a:ext cx="3762963" cy="522505"/>
            </a:xfrm>
            <a:prstGeom prst="rect">
              <a:avLst/>
            </a:prstGeom>
          </p:spPr>
          <p:txBody>
            <a:bodyPr anchor="ctr" rtlCol="false" tIns="50800" lIns="50800" bIns="50800" rIns="50800"/>
            <a:lstStyle/>
            <a:p>
              <a:pPr algn="ctr">
                <a:lnSpc>
                  <a:spcPts val="2800"/>
                </a:lnSpc>
              </a:pPr>
            </a:p>
          </p:txBody>
        </p:sp>
      </p:grpSp>
      <p:sp>
        <p:nvSpPr>
          <p:cNvPr name="TextBox 6" id="6"/>
          <p:cNvSpPr txBox="true"/>
          <p:nvPr/>
        </p:nvSpPr>
        <p:spPr>
          <a:xfrm rot="0">
            <a:off x="1028700" y="286512"/>
            <a:ext cx="15430500" cy="1217295"/>
          </a:xfrm>
          <a:prstGeom prst="rect">
            <a:avLst/>
          </a:prstGeom>
        </p:spPr>
        <p:txBody>
          <a:bodyPr anchor="t" rtlCol="false" tIns="0" lIns="0" bIns="0" rIns="0">
            <a:spAutoFit/>
          </a:bodyPr>
          <a:lstStyle/>
          <a:p>
            <a:pPr algn="l" marL="0" indent="0" lvl="0">
              <a:lnSpc>
                <a:spcPts val="10080"/>
              </a:lnSpc>
              <a:spcBef>
                <a:spcPct val="0"/>
              </a:spcBef>
            </a:pPr>
            <a:r>
              <a:rPr lang="en-US" b="true" sz="7200">
                <a:solidFill>
                  <a:srgbClr val="FFFFFF"/>
                </a:solidFill>
                <a:latin typeface="Open Sauce Bold"/>
                <a:ea typeface="Open Sauce Bold"/>
                <a:cs typeface="Open Sauce Bold"/>
                <a:sym typeface="Open Sauce Bold"/>
              </a:rPr>
              <a:t>Skenario Pengujian &amp; Baseline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32430"/>
            <a:ext cx="18288000" cy="2307915"/>
            <a:chOff x="0" y="0"/>
            <a:chExt cx="3762963" cy="474880"/>
          </a:xfrm>
        </p:grpSpPr>
        <p:sp>
          <p:nvSpPr>
            <p:cNvPr name="Freeform 3" id="3"/>
            <p:cNvSpPr/>
            <p:nvPr/>
          </p:nvSpPr>
          <p:spPr>
            <a:xfrm flipH="false" flipV="false" rot="0">
              <a:off x="0" y="0"/>
              <a:ext cx="3762963" cy="474880"/>
            </a:xfrm>
            <a:custGeom>
              <a:avLst/>
              <a:gdLst/>
              <a:ahLst/>
              <a:cxnLst/>
              <a:rect r="r" b="b" t="t" l="l"/>
              <a:pathLst>
                <a:path h="474880" w="3762963">
                  <a:moveTo>
                    <a:pt x="8268" y="0"/>
                  </a:moveTo>
                  <a:lnTo>
                    <a:pt x="3754695" y="0"/>
                  </a:lnTo>
                  <a:cubicBezTo>
                    <a:pt x="3756888" y="0"/>
                    <a:pt x="3758991" y="871"/>
                    <a:pt x="3760541" y="2422"/>
                  </a:cubicBezTo>
                  <a:cubicBezTo>
                    <a:pt x="3762092" y="3972"/>
                    <a:pt x="3762963" y="6075"/>
                    <a:pt x="3762963" y="8268"/>
                  </a:cubicBezTo>
                  <a:lnTo>
                    <a:pt x="3762963" y="466611"/>
                  </a:lnTo>
                  <a:cubicBezTo>
                    <a:pt x="3762963" y="471178"/>
                    <a:pt x="3759261" y="474880"/>
                    <a:pt x="3754695" y="474880"/>
                  </a:cubicBezTo>
                  <a:lnTo>
                    <a:pt x="8268" y="474880"/>
                  </a:lnTo>
                  <a:cubicBezTo>
                    <a:pt x="3702" y="474880"/>
                    <a:pt x="0" y="471178"/>
                    <a:pt x="0" y="466611"/>
                  </a:cubicBezTo>
                  <a:lnTo>
                    <a:pt x="0" y="8268"/>
                  </a:lnTo>
                  <a:cubicBezTo>
                    <a:pt x="0" y="3702"/>
                    <a:pt x="3702" y="0"/>
                    <a:pt x="8268" y="0"/>
                  </a:cubicBezTo>
                  <a:close/>
                </a:path>
              </a:pathLst>
            </a:custGeom>
            <a:solidFill>
              <a:srgbClr val="016B67"/>
            </a:solidFill>
          </p:spPr>
        </p:sp>
        <p:sp>
          <p:nvSpPr>
            <p:cNvPr name="TextBox 4" id="4"/>
            <p:cNvSpPr txBox="true"/>
            <p:nvPr/>
          </p:nvSpPr>
          <p:spPr>
            <a:xfrm>
              <a:off x="0" y="-47625"/>
              <a:ext cx="3762963" cy="522505"/>
            </a:xfrm>
            <a:prstGeom prst="rect">
              <a:avLst/>
            </a:prstGeom>
          </p:spPr>
          <p:txBody>
            <a:bodyPr anchor="ctr" rtlCol="false" tIns="50800" lIns="50800" bIns="50800" rIns="50800"/>
            <a:lstStyle/>
            <a:p>
              <a:pPr algn="ctr">
                <a:lnSpc>
                  <a:spcPts val="2800"/>
                </a:lnSpc>
              </a:pPr>
            </a:p>
          </p:txBody>
        </p:sp>
      </p:grpSp>
      <p:sp>
        <p:nvSpPr>
          <p:cNvPr name="Freeform 5" id="5"/>
          <p:cNvSpPr/>
          <p:nvPr/>
        </p:nvSpPr>
        <p:spPr>
          <a:xfrm flipH="false" flipV="false" rot="0">
            <a:off x="1271446" y="3576617"/>
            <a:ext cx="6562810" cy="3133766"/>
          </a:xfrm>
          <a:custGeom>
            <a:avLst/>
            <a:gdLst/>
            <a:ahLst/>
            <a:cxnLst/>
            <a:rect r="r" b="b" t="t" l="l"/>
            <a:pathLst>
              <a:path h="3133766" w="6562810">
                <a:moveTo>
                  <a:pt x="0" y="0"/>
                </a:moveTo>
                <a:lnTo>
                  <a:pt x="6562810" y="0"/>
                </a:lnTo>
                <a:lnTo>
                  <a:pt x="6562810" y="3133766"/>
                </a:lnTo>
                <a:lnTo>
                  <a:pt x="0" y="3133766"/>
                </a:lnTo>
                <a:lnTo>
                  <a:pt x="0" y="0"/>
                </a:lnTo>
                <a:close/>
              </a:path>
            </a:pathLst>
          </a:custGeom>
          <a:blipFill>
            <a:blip r:embed="rId2"/>
            <a:stretch>
              <a:fillRect l="0" t="0" r="0" b="0"/>
            </a:stretch>
          </a:blipFill>
        </p:spPr>
      </p:sp>
      <p:sp>
        <p:nvSpPr>
          <p:cNvPr name="TextBox 6" id="6"/>
          <p:cNvSpPr txBox="true"/>
          <p:nvPr/>
        </p:nvSpPr>
        <p:spPr>
          <a:xfrm rot="0">
            <a:off x="8627923" y="2888113"/>
            <a:ext cx="9341462" cy="5659395"/>
          </a:xfrm>
          <a:prstGeom prst="rect">
            <a:avLst/>
          </a:prstGeom>
        </p:spPr>
        <p:txBody>
          <a:bodyPr anchor="t" rtlCol="false" tIns="0" lIns="0" bIns="0" rIns="0">
            <a:spAutoFit/>
          </a:bodyPr>
          <a:lstStyle/>
          <a:p>
            <a:pPr algn="just">
              <a:lnSpc>
                <a:spcPts val="2539"/>
              </a:lnSpc>
            </a:pPr>
            <a:r>
              <a:rPr lang="en-US" sz="1814">
                <a:solidFill>
                  <a:srgbClr val="000000"/>
                </a:solidFill>
                <a:latin typeface="Courier New"/>
                <a:ea typeface="Courier New"/>
                <a:cs typeface="Courier New"/>
                <a:sym typeface="Courier New"/>
              </a:rPr>
              <a:t>scaler = StandardScaler()</a:t>
            </a:r>
          </a:p>
          <a:p>
            <a:pPr algn="just">
              <a:lnSpc>
                <a:spcPts val="2539"/>
              </a:lnSpc>
            </a:pPr>
            <a:r>
              <a:rPr lang="en-US" sz="1814">
                <a:solidFill>
                  <a:srgbClr val="000000"/>
                </a:solidFill>
                <a:latin typeface="Courier New"/>
                <a:ea typeface="Courier New"/>
                <a:cs typeface="Courier New"/>
                <a:sym typeface="Courier New"/>
              </a:rPr>
              <a:t>X_train_scaled = scaler.fit_transform(X_train)</a:t>
            </a:r>
          </a:p>
          <a:p>
            <a:pPr algn="just">
              <a:lnSpc>
                <a:spcPts val="2539"/>
              </a:lnSpc>
            </a:pPr>
            <a:r>
              <a:rPr lang="en-US" sz="1814">
                <a:solidFill>
                  <a:srgbClr val="000000"/>
                </a:solidFill>
                <a:latin typeface="Courier New"/>
                <a:ea typeface="Courier New"/>
                <a:cs typeface="Courier New"/>
                <a:sym typeface="Courier New"/>
              </a:rPr>
              <a:t>X_test_scaled = scaler.transform(X_test)</a:t>
            </a:r>
          </a:p>
          <a:p>
            <a:pPr algn="just">
              <a:lnSpc>
                <a:spcPts val="2539"/>
              </a:lnSpc>
            </a:pPr>
            <a:r>
              <a:rPr lang="en-US" sz="1814">
                <a:solidFill>
                  <a:srgbClr val="000000"/>
                </a:solidFill>
                <a:latin typeface="Courier New"/>
                <a:ea typeface="Courier New"/>
                <a:cs typeface="Courier New"/>
                <a:sym typeface="Courier New"/>
              </a:rPr>
              <a:t>baseline_model = LogisticRegression(</a:t>
            </a:r>
          </a:p>
          <a:p>
            <a:pPr algn="just">
              <a:lnSpc>
                <a:spcPts val="2539"/>
              </a:lnSpc>
            </a:pPr>
            <a:r>
              <a:rPr lang="en-US" sz="1814">
                <a:solidFill>
                  <a:srgbClr val="000000"/>
                </a:solidFill>
                <a:latin typeface="Courier New"/>
                <a:ea typeface="Courier New"/>
                <a:cs typeface="Courier New"/>
                <a:sym typeface="Courier New"/>
              </a:rPr>
              <a:t>  max_iter=1000,</a:t>
            </a:r>
          </a:p>
          <a:p>
            <a:pPr algn="just">
              <a:lnSpc>
                <a:spcPts val="2539"/>
              </a:lnSpc>
            </a:pPr>
            <a:r>
              <a:rPr lang="en-US" sz="1814">
                <a:solidFill>
                  <a:srgbClr val="000000"/>
                </a:solidFill>
                <a:latin typeface="Courier New"/>
                <a:ea typeface="Courier New"/>
                <a:cs typeface="Courier New"/>
                <a:sym typeface="Courier New"/>
              </a:rPr>
              <a:t>  class_weight="balanced"</a:t>
            </a:r>
          </a:p>
          <a:p>
            <a:pPr algn="just">
              <a:lnSpc>
                <a:spcPts val="2539"/>
              </a:lnSpc>
            </a:pPr>
            <a:r>
              <a:rPr lang="en-US" sz="1814">
                <a:solidFill>
                  <a:srgbClr val="000000"/>
                </a:solidFill>
                <a:latin typeface="Courier New"/>
                <a:ea typeface="Courier New"/>
                <a:cs typeface="Courier New"/>
                <a:sym typeface="Courier New"/>
              </a:rPr>
              <a:t>)</a:t>
            </a:r>
          </a:p>
          <a:p>
            <a:pPr algn="just">
              <a:lnSpc>
                <a:spcPts val="2539"/>
              </a:lnSpc>
            </a:pPr>
          </a:p>
          <a:p>
            <a:pPr algn="just">
              <a:lnSpc>
                <a:spcPts val="2539"/>
              </a:lnSpc>
            </a:pPr>
            <a:r>
              <a:rPr lang="en-US" sz="1814">
                <a:solidFill>
                  <a:srgbClr val="000000"/>
                </a:solidFill>
                <a:latin typeface="Courier New"/>
                <a:ea typeface="Courier New"/>
                <a:cs typeface="Courier New"/>
                <a:sym typeface="Courier New"/>
              </a:rPr>
              <a:t>baseline_model.fit(X_train_scaled, y_train)</a:t>
            </a:r>
          </a:p>
          <a:p>
            <a:pPr algn="just">
              <a:lnSpc>
                <a:spcPts val="2539"/>
              </a:lnSpc>
            </a:pPr>
            <a:r>
              <a:rPr lang="en-US" sz="1814">
                <a:solidFill>
                  <a:srgbClr val="000000"/>
                </a:solidFill>
                <a:latin typeface="Courier New"/>
                <a:ea typeface="Courier New"/>
                <a:cs typeface="Courier New"/>
                <a:sym typeface="Courier New"/>
              </a:rPr>
              <a:t>y_pred_base = baseline_model.predict(X_test_scaled)</a:t>
            </a:r>
          </a:p>
          <a:p>
            <a:pPr algn="just">
              <a:lnSpc>
                <a:spcPts val="2539"/>
              </a:lnSpc>
            </a:pPr>
          </a:p>
          <a:p>
            <a:pPr algn="just">
              <a:lnSpc>
                <a:spcPts val="2539"/>
              </a:lnSpc>
            </a:pPr>
            <a:r>
              <a:rPr lang="en-US" sz="1814">
                <a:solidFill>
                  <a:srgbClr val="000000"/>
                </a:solidFill>
                <a:latin typeface="Courier New"/>
                <a:ea typeface="Courier New"/>
                <a:cs typeface="Courier New"/>
                <a:sym typeface="Courier New"/>
              </a:rPr>
              <a:t>print("Baseline Accuracy:", accuracy_score(y_test, y_pred_base))</a:t>
            </a:r>
          </a:p>
          <a:p>
            <a:pPr algn="just">
              <a:lnSpc>
                <a:spcPts val="2539"/>
              </a:lnSpc>
            </a:pPr>
            <a:r>
              <a:rPr lang="en-US" sz="1814">
                <a:solidFill>
                  <a:srgbClr val="000000"/>
                </a:solidFill>
                <a:latin typeface="Courier New"/>
                <a:ea typeface="Courier New"/>
                <a:cs typeface="Courier New"/>
                <a:sym typeface="Courier New"/>
              </a:rPr>
              <a:t>print(classification_report(</a:t>
            </a:r>
          </a:p>
          <a:p>
            <a:pPr algn="just">
              <a:lnSpc>
                <a:spcPts val="2539"/>
              </a:lnSpc>
            </a:pPr>
            <a:r>
              <a:rPr lang="en-US" sz="1814">
                <a:solidFill>
                  <a:srgbClr val="000000"/>
                </a:solidFill>
                <a:latin typeface="Courier New"/>
                <a:ea typeface="Courier New"/>
                <a:cs typeface="Courier New"/>
                <a:sym typeface="Courier New"/>
              </a:rPr>
              <a:t>  y_test, y_pred_base,</a:t>
            </a:r>
          </a:p>
          <a:p>
            <a:pPr algn="just">
              <a:lnSpc>
                <a:spcPts val="2539"/>
              </a:lnSpc>
            </a:pPr>
            <a:r>
              <a:rPr lang="en-US" sz="1814">
                <a:solidFill>
                  <a:srgbClr val="000000"/>
                </a:solidFill>
                <a:latin typeface="Courier New"/>
                <a:ea typeface="Courier New"/>
                <a:cs typeface="Courier New"/>
                <a:sym typeface="Courier New"/>
              </a:rPr>
              <a:t>  target_names=le.classes_,</a:t>
            </a:r>
          </a:p>
          <a:p>
            <a:pPr algn="just">
              <a:lnSpc>
                <a:spcPts val="2539"/>
              </a:lnSpc>
            </a:pPr>
            <a:r>
              <a:rPr lang="en-US" sz="1814">
                <a:solidFill>
                  <a:srgbClr val="000000"/>
                </a:solidFill>
                <a:latin typeface="Courier New"/>
                <a:ea typeface="Courier New"/>
                <a:cs typeface="Courier New"/>
                <a:sym typeface="Courier New"/>
              </a:rPr>
              <a:t>  zero_division=0</a:t>
            </a:r>
          </a:p>
          <a:p>
            <a:pPr algn="just">
              <a:lnSpc>
                <a:spcPts val="2539"/>
              </a:lnSpc>
            </a:pPr>
            <a:r>
              <a:rPr lang="en-US" sz="1814">
                <a:solidFill>
                  <a:srgbClr val="000000"/>
                </a:solidFill>
                <a:latin typeface="Courier New"/>
                <a:ea typeface="Courier New"/>
                <a:cs typeface="Courier New"/>
                <a:sym typeface="Courier New"/>
              </a:rPr>
              <a:t>))</a:t>
            </a:r>
          </a:p>
          <a:p>
            <a:pPr algn="just">
              <a:lnSpc>
                <a:spcPts val="2539"/>
              </a:lnSpc>
              <a:spcBef>
                <a:spcPct val="0"/>
              </a:spcBef>
            </a:pPr>
          </a:p>
        </p:txBody>
      </p:sp>
      <p:sp>
        <p:nvSpPr>
          <p:cNvPr name="TextBox 7" id="7"/>
          <p:cNvSpPr txBox="true"/>
          <p:nvPr/>
        </p:nvSpPr>
        <p:spPr>
          <a:xfrm rot="0">
            <a:off x="1028700" y="286512"/>
            <a:ext cx="15430500" cy="1217295"/>
          </a:xfrm>
          <a:prstGeom prst="rect">
            <a:avLst/>
          </a:prstGeom>
        </p:spPr>
        <p:txBody>
          <a:bodyPr anchor="t" rtlCol="false" tIns="0" lIns="0" bIns="0" rIns="0">
            <a:spAutoFit/>
          </a:bodyPr>
          <a:lstStyle/>
          <a:p>
            <a:pPr algn="l" marL="0" indent="0" lvl="0">
              <a:lnSpc>
                <a:spcPts val="10080"/>
              </a:lnSpc>
              <a:spcBef>
                <a:spcPct val="0"/>
              </a:spcBef>
            </a:pPr>
            <a:r>
              <a:rPr lang="en-US" b="true" sz="7200">
                <a:solidFill>
                  <a:srgbClr val="FFFFFF"/>
                </a:solidFill>
                <a:latin typeface="Open Sauce Bold"/>
                <a:ea typeface="Open Sauce Bold"/>
                <a:cs typeface="Open Sauce Bold"/>
                <a:sym typeface="Open Sauce Bold"/>
              </a:rPr>
              <a:t>Baseline Model</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32430"/>
            <a:ext cx="18288000" cy="2307915"/>
            <a:chOff x="0" y="0"/>
            <a:chExt cx="3762963" cy="474880"/>
          </a:xfrm>
        </p:grpSpPr>
        <p:sp>
          <p:nvSpPr>
            <p:cNvPr name="Freeform 3" id="3"/>
            <p:cNvSpPr/>
            <p:nvPr/>
          </p:nvSpPr>
          <p:spPr>
            <a:xfrm flipH="false" flipV="false" rot="0">
              <a:off x="0" y="0"/>
              <a:ext cx="3762963" cy="474880"/>
            </a:xfrm>
            <a:custGeom>
              <a:avLst/>
              <a:gdLst/>
              <a:ahLst/>
              <a:cxnLst/>
              <a:rect r="r" b="b" t="t" l="l"/>
              <a:pathLst>
                <a:path h="474880" w="3762963">
                  <a:moveTo>
                    <a:pt x="8268" y="0"/>
                  </a:moveTo>
                  <a:lnTo>
                    <a:pt x="3754695" y="0"/>
                  </a:lnTo>
                  <a:cubicBezTo>
                    <a:pt x="3756888" y="0"/>
                    <a:pt x="3758991" y="871"/>
                    <a:pt x="3760541" y="2422"/>
                  </a:cubicBezTo>
                  <a:cubicBezTo>
                    <a:pt x="3762092" y="3972"/>
                    <a:pt x="3762963" y="6075"/>
                    <a:pt x="3762963" y="8268"/>
                  </a:cubicBezTo>
                  <a:lnTo>
                    <a:pt x="3762963" y="466611"/>
                  </a:lnTo>
                  <a:cubicBezTo>
                    <a:pt x="3762963" y="471178"/>
                    <a:pt x="3759261" y="474880"/>
                    <a:pt x="3754695" y="474880"/>
                  </a:cubicBezTo>
                  <a:lnTo>
                    <a:pt x="8268" y="474880"/>
                  </a:lnTo>
                  <a:cubicBezTo>
                    <a:pt x="3702" y="474880"/>
                    <a:pt x="0" y="471178"/>
                    <a:pt x="0" y="466611"/>
                  </a:cubicBezTo>
                  <a:lnTo>
                    <a:pt x="0" y="8268"/>
                  </a:lnTo>
                  <a:cubicBezTo>
                    <a:pt x="0" y="3702"/>
                    <a:pt x="3702" y="0"/>
                    <a:pt x="8268" y="0"/>
                  </a:cubicBezTo>
                  <a:close/>
                </a:path>
              </a:pathLst>
            </a:custGeom>
            <a:solidFill>
              <a:srgbClr val="016B67"/>
            </a:solidFill>
          </p:spPr>
        </p:sp>
        <p:sp>
          <p:nvSpPr>
            <p:cNvPr name="TextBox 4" id="4"/>
            <p:cNvSpPr txBox="true"/>
            <p:nvPr/>
          </p:nvSpPr>
          <p:spPr>
            <a:xfrm>
              <a:off x="0" y="-47625"/>
              <a:ext cx="3762963" cy="522505"/>
            </a:xfrm>
            <a:prstGeom prst="rect">
              <a:avLst/>
            </a:prstGeom>
          </p:spPr>
          <p:txBody>
            <a:bodyPr anchor="ctr" rtlCol="false" tIns="50800" lIns="50800" bIns="50800" rIns="50800"/>
            <a:lstStyle/>
            <a:p>
              <a:pPr algn="ctr">
                <a:lnSpc>
                  <a:spcPts val="2800"/>
                </a:lnSpc>
              </a:pPr>
            </a:p>
          </p:txBody>
        </p:sp>
      </p:grpSp>
      <p:sp>
        <p:nvSpPr>
          <p:cNvPr name="Freeform 5" id="5"/>
          <p:cNvSpPr/>
          <p:nvPr/>
        </p:nvSpPr>
        <p:spPr>
          <a:xfrm flipH="false" flipV="false" rot="0">
            <a:off x="2029210" y="2570728"/>
            <a:ext cx="5195507" cy="2448638"/>
          </a:xfrm>
          <a:custGeom>
            <a:avLst/>
            <a:gdLst/>
            <a:ahLst/>
            <a:cxnLst/>
            <a:rect r="r" b="b" t="t" l="l"/>
            <a:pathLst>
              <a:path h="2448638" w="5195507">
                <a:moveTo>
                  <a:pt x="0" y="0"/>
                </a:moveTo>
                <a:lnTo>
                  <a:pt x="5195506" y="0"/>
                </a:lnTo>
                <a:lnTo>
                  <a:pt x="5195506" y="2448638"/>
                </a:lnTo>
                <a:lnTo>
                  <a:pt x="0" y="2448638"/>
                </a:lnTo>
                <a:lnTo>
                  <a:pt x="0" y="0"/>
                </a:lnTo>
                <a:close/>
              </a:path>
            </a:pathLst>
          </a:custGeom>
          <a:blipFill>
            <a:blip r:embed="rId2"/>
            <a:stretch>
              <a:fillRect l="0" t="0" r="0" b="0"/>
            </a:stretch>
          </a:blipFill>
        </p:spPr>
      </p:sp>
      <p:sp>
        <p:nvSpPr>
          <p:cNvPr name="Freeform 6" id="6"/>
          <p:cNvSpPr/>
          <p:nvPr/>
        </p:nvSpPr>
        <p:spPr>
          <a:xfrm flipH="false" flipV="false" rot="0">
            <a:off x="2236827" y="5277306"/>
            <a:ext cx="4780273" cy="4068490"/>
          </a:xfrm>
          <a:custGeom>
            <a:avLst/>
            <a:gdLst/>
            <a:ahLst/>
            <a:cxnLst/>
            <a:rect r="r" b="b" t="t" l="l"/>
            <a:pathLst>
              <a:path h="4068490" w="4780273">
                <a:moveTo>
                  <a:pt x="0" y="0"/>
                </a:moveTo>
                <a:lnTo>
                  <a:pt x="4780273" y="0"/>
                </a:lnTo>
                <a:lnTo>
                  <a:pt x="4780273" y="4068489"/>
                </a:lnTo>
                <a:lnTo>
                  <a:pt x="0" y="4068489"/>
                </a:lnTo>
                <a:lnTo>
                  <a:pt x="0" y="0"/>
                </a:lnTo>
                <a:close/>
              </a:path>
            </a:pathLst>
          </a:custGeom>
          <a:blipFill>
            <a:blip r:embed="rId3"/>
            <a:stretch>
              <a:fillRect l="0" t="0" r="0" b="0"/>
            </a:stretch>
          </a:blipFill>
        </p:spPr>
      </p:sp>
      <p:sp>
        <p:nvSpPr>
          <p:cNvPr name="TextBox 7" id="7"/>
          <p:cNvSpPr txBox="true"/>
          <p:nvPr/>
        </p:nvSpPr>
        <p:spPr>
          <a:xfrm rot="0">
            <a:off x="8743950" y="2429101"/>
            <a:ext cx="7665648" cy="6916695"/>
          </a:xfrm>
          <a:prstGeom prst="rect">
            <a:avLst/>
          </a:prstGeom>
        </p:spPr>
        <p:txBody>
          <a:bodyPr anchor="t" rtlCol="false" tIns="0" lIns="0" bIns="0" rIns="0">
            <a:spAutoFit/>
          </a:bodyPr>
          <a:lstStyle/>
          <a:p>
            <a:pPr algn="just">
              <a:lnSpc>
                <a:spcPts val="2539"/>
              </a:lnSpc>
            </a:pPr>
            <a:r>
              <a:rPr lang="en-US" sz="1814">
                <a:solidFill>
                  <a:srgbClr val="000000"/>
                </a:solidFill>
                <a:latin typeface="Courier New"/>
                <a:ea typeface="Courier New"/>
                <a:cs typeface="Courier New"/>
                <a:sym typeface="Courier New"/>
              </a:rPr>
              <a:t>rf_model = RandomFores</a:t>
            </a:r>
            <a:r>
              <a:rPr lang="en-US" sz="1814">
                <a:solidFill>
                  <a:srgbClr val="000000"/>
                </a:solidFill>
                <a:latin typeface="Courier New"/>
                <a:ea typeface="Courier New"/>
                <a:cs typeface="Courier New"/>
                <a:sym typeface="Courier New"/>
              </a:rPr>
              <a:t>tClassifier(</a:t>
            </a:r>
          </a:p>
          <a:p>
            <a:pPr algn="just">
              <a:lnSpc>
                <a:spcPts val="2539"/>
              </a:lnSpc>
            </a:pPr>
            <a:r>
              <a:rPr lang="en-US" sz="1814">
                <a:solidFill>
                  <a:srgbClr val="000000"/>
                </a:solidFill>
                <a:latin typeface="Courier New"/>
                <a:ea typeface="Courier New"/>
                <a:cs typeface="Courier New"/>
                <a:sym typeface="Courier New"/>
              </a:rPr>
              <a:t>  n_estimators=300,</a:t>
            </a:r>
          </a:p>
          <a:p>
            <a:pPr algn="just">
              <a:lnSpc>
                <a:spcPts val="2539"/>
              </a:lnSpc>
            </a:pPr>
            <a:r>
              <a:rPr lang="en-US" sz="1814">
                <a:solidFill>
                  <a:srgbClr val="000000"/>
                </a:solidFill>
                <a:latin typeface="Courier New"/>
                <a:ea typeface="Courier New"/>
                <a:cs typeface="Courier New"/>
                <a:sym typeface="Courier New"/>
              </a:rPr>
              <a:t>  m</a:t>
            </a:r>
            <a:r>
              <a:rPr lang="en-US" sz="1814">
                <a:solidFill>
                  <a:srgbClr val="000000"/>
                </a:solidFill>
                <a:latin typeface="Courier New"/>
                <a:ea typeface="Courier New"/>
                <a:cs typeface="Courier New"/>
                <a:sym typeface="Courier New"/>
              </a:rPr>
              <a:t>ax_depth=None,</a:t>
            </a:r>
          </a:p>
          <a:p>
            <a:pPr algn="just">
              <a:lnSpc>
                <a:spcPts val="2539"/>
              </a:lnSpc>
            </a:pPr>
            <a:r>
              <a:rPr lang="en-US" sz="1814">
                <a:solidFill>
                  <a:srgbClr val="000000"/>
                </a:solidFill>
                <a:latin typeface="Courier New"/>
                <a:ea typeface="Courier New"/>
                <a:cs typeface="Courier New"/>
                <a:sym typeface="Courier New"/>
              </a:rPr>
              <a:t>  </a:t>
            </a:r>
            <a:r>
              <a:rPr lang="en-US" sz="1814">
                <a:solidFill>
                  <a:srgbClr val="000000"/>
                </a:solidFill>
                <a:latin typeface="Courier New"/>
                <a:ea typeface="Courier New"/>
                <a:cs typeface="Courier New"/>
                <a:sym typeface="Courier New"/>
              </a:rPr>
              <a:t>min_samples_split=2,</a:t>
            </a:r>
          </a:p>
          <a:p>
            <a:pPr algn="just">
              <a:lnSpc>
                <a:spcPts val="2539"/>
              </a:lnSpc>
            </a:pPr>
            <a:r>
              <a:rPr lang="en-US" sz="1814">
                <a:solidFill>
                  <a:srgbClr val="000000"/>
                </a:solidFill>
                <a:latin typeface="Courier New"/>
                <a:ea typeface="Courier New"/>
                <a:cs typeface="Courier New"/>
                <a:sym typeface="Courier New"/>
              </a:rPr>
              <a:t>  </a:t>
            </a:r>
            <a:r>
              <a:rPr lang="en-US" sz="1814">
                <a:solidFill>
                  <a:srgbClr val="000000"/>
                </a:solidFill>
                <a:latin typeface="Courier New"/>
                <a:ea typeface="Courier New"/>
                <a:cs typeface="Courier New"/>
                <a:sym typeface="Courier New"/>
              </a:rPr>
              <a:t>class_weight="balanced",</a:t>
            </a:r>
          </a:p>
          <a:p>
            <a:pPr algn="just">
              <a:lnSpc>
                <a:spcPts val="2539"/>
              </a:lnSpc>
            </a:pPr>
            <a:r>
              <a:rPr lang="en-US" sz="1814">
                <a:solidFill>
                  <a:srgbClr val="000000"/>
                </a:solidFill>
                <a:latin typeface="Courier New"/>
                <a:ea typeface="Courier New"/>
                <a:cs typeface="Courier New"/>
                <a:sym typeface="Courier New"/>
              </a:rPr>
              <a:t>  r</a:t>
            </a:r>
            <a:r>
              <a:rPr lang="en-US" sz="1814">
                <a:solidFill>
                  <a:srgbClr val="000000"/>
                </a:solidFill>
                <a:latin typeface="Courier New"/>
                <a:ea typeface="Courier New"/>
                <a:cs typeface="Courier New"/>
                <a:sym typeface="Courier New"/>
              </a:rPr>
              <a:t>andom_state=42,</a:t>
            </a:r>
          </a:p>
          <a:p>
            <a:pPr algn="just">
              <a:lnSpc>
                <a:spcPts val="2539"/>
              </a:lnSpc>
            </a:pPr>
            <a:r>
              <a:rPr lang="en-US" sz="1814">
                <a:solidFill>
                  <a:srgbClr val="000000"/>
                </a:solidFill>
                <a:latin typeface="Courier New"/>
                <a:ea typeface="Courier New"/>
                <a:cs typeface="Courier New"/>
                <a:sym typeface="Courier New"/>
              </a:rPr>
              <a:t>  n_jobs=-1</a:t>
            </a:r>
          </a:p>
          <a:p>
            <a:pPr algn="just">
              <a:lnSpc>
                <a:spcPts val="2539"/>
              </a:lnSpc>
            </a:pPr>
            <a:r>
              <a:rPr lang="en-US" sz="1814">
                <a:solidFill>
                  <a:srgbClr val="000000"/>
                </a:solidFill>
                <a:latin typeface="Courier New"/>
                <a:ea typeface="Courier New"/>
                <a:cs typeface="Courier New"/>
                <a:sym typeface="Courier New"/>
              </a:rPr>
              <a:t>)</a:t>
            </a:r>
          </a:p>
          <a:p>
            <a:pPr algn="just">
              <a:lnSpc>
                <a:spcPts val="2539"/>
              </a:lnSpc>
            </a:pPr>
          </a:p>
          <a:p>
            <a:pPr algn="just">
              <a:lnSpc>
                <a:spcPts val="2539"/>
              </a:lnSpc>
            </a:pPr>
            <a:r>
              <a:rPr lang="en-US" sz="1814">
                <a:solidFill>
                  <a:srgbClr val="000000"/>
                </a:solidFill>
                <a:latin typeface="Courier New"/>
                <a:ea typeface="Courier New"/>
                <a:cs typeface="Courier New"/>
                <a:sym typeface="Courier New"/>
              </a:rPr>
              <a:t>rf_model.fit(X_train, y_train)</a:t>
            </a:r>
          </a:p>
          <a:p>
            <a:pPr algn="just">
              <a:lnSpc>
                <a:spcPts val="2539"/>
              </a:lnSpc>
            </a:pPr>
          </a:p>
          <a:p>
            <a:pPr algn="just">
              <a:lnSpc>
                <a:spcPts val="2539"/>
              </a:lnSpc>
            </a:pPr>
            <a:r>
              <a:rPr lang="en-US" sz="1814">
                <a:solidFill>
                  <a:srgbClr val="000000"/>
                </a:solidFill>
                <a:latin typeface="Courier New"/>
                <a:ea typeface="Courier New"/>
                <a:cs typeface="Courier New"/>
                <a:sym typeface="Courier New"/>
              </a:rPr>
              <a:t>y_pred_rf = rf_model.predict(X_test)</a:t>
            </a:r>
          </a:p>
          <a:p>
            <a:pPr algn="just">
              <a:lnSpc>
                <a:spcPts val="2539"/>
              </a:lnSpc>
            </a:pPr>
          </a:p>
          <a:p>
            <a:pPr algn="just">
              <a:lnSpc>
                <a:spcPts val="2539"/>
              </a:lnSpc>
            </a:pPr>
            <a:r>
              <a:rPr lang="en-US" sz="1814">
                <a:solidFill>
                  <a:srgbClr val="000000"/>
                </a:solidFill>
                <a:latin typeface="Courier New"/>
                <a:ea typeface="Courier New"/>
                <a:cs typeface="Courier New"/>
                <a:sym typeface="Courier New"/>
              </a:rPr>
              <a:t>print("Random Forest Accuracy:", accuracy_score(y_test, y_pred_rf))</a:t>
            </a:r>
          </a:p>
          <a:p>
            <a:pPr algn="just">
              <a:lnSpc>
                <a:spcPts val="2539"/>
              </a:lnSpc>
            </a:pPr>
            <a:r>
              <a:rPr lang="en-US" sz="1814">
                <a:solidFill>
                  <a:srgbClr val="000000"/>
                </a:solidFill>
                <a:latin typeface="Courier New"/>
                <a:ea typeface="Courier New"/>
                <a:cs typeface="Courier New"/>
                <a:sym typeface="Courier New"/>
              </a:rPr>
              <a:t>print(classification_report(</a:t>
            </a:r>
          </a:p>
          <a:p>
            <a:pPr algn="just">
              <a:lnSpc>
                <a:spcPts val="2539"/>
              </a:lnSpc>
            </a:pPr>
            <a:r>
              <a:rPr lang="en-US" sz="1814">
                <a:solidFill>
                  <a:srgbClr val="000000"/>
                </a:solidFill>
                <a:latin typeface="Courier New"/>
                <a:ea typeface="Courier New"/>
                <a:cs typeface="Courier New"/>
                <a:sym typeface="Courier New"/>
              </a:rPr>
              <a:t>  </a:t>
            </a:r>
            <a:r>
              <a:rPr lang="en-US" sz="1814">
                <a:solidFill>
                  <a:srgbClr val="000000"/>
                </a:solidFill>
                <a:latin typeface="Courier New"/>
                <a:ea typeface="Courier New"/>
                <a:cs typeface="Courier New"/>
                <a:sym typeface="Courier New"/>
              </a:rPr>
              <a:t>y_test,</a:t>
            </a:r>
          </a:p>
          <a:p>
            <a:pPr algn="just">
              <a:lnSpc>
                <a:spcPts val="2539"/>
              </a:lnSpc>
            </a:pPr>
            <a:r>
              <a:rPr lang="en-US" sz="1814">
                <a:solidFill>
                  <a:srgbClr val="000000"/>
                </a:solidFill>
                <a:latin typeface="Courier New"/>
                <a:ea typeface="Courier New"/>
                <a:cs typeface="Courier New"/>
                <a:sym typeface="Courier New"/>
              </a:rPr>
              <a:t>  y_pred_rf,</a:t>
            </a:r>
          </a:p>
          <a:p>
            <a:pPr algn="just">
              <a:lnSpc>
                <a:spcPts val="2539"/>
              </a:lnSpc>
            </a:pPr>
            <a:r>
              <a:rPr lang="en-US" sz="1814">
                <a:solidFill>
                  <a:srgbClr val="000000"/>
                </a:solidFill>
                <a:latin typeface="Courier New"/>
                <a:ea typeface="Courier New"/>
                <a:cs typeface="Courier New"/>
                <a:sym typeface="Courier New"/>
              </a:rPr>
              <a:t>  </a:t>
            </a:r>
            <a:r>
              <a:rPr lang="en-US" sz="1814">
                <a:solidFill>
                  <a:srgbClr val="000000"/>
                </a:solidFill>
                <a:latin typeface="Courier New"/>
                <a:ea typeface="Courier New"/>
                <a:cs typeface="Courier New"/>
                <a:sym typeface="Courier New"/>
              </a:rPr>
              <a:t>target_names=le.classes_,</a:t>
            </a:r>
          </a:p>
          <a:p>
            <a:pPr algn="just">
              <a:lnSpc>
                <a:spcPts val="2539"/>
              </a:lnSpc>
            </a:pPr>
            <a:r>
              <a:rPr lang="en-US" sz="1814">
                <a:solidFill>
                  <a:srgbClr val="000000"/>
                </a:solidFill>
                <a:latin typeface="Courier New"/>
                <a:ea typeface="Courier New"/>
                <a:cs typeface="Courier New"/>
                <a:sym typeface="Courier New"/>
              </a:rPr>
              <a:t>  </a:t>
            </a:r>
            <a:r>
              <a:rPr lang="en-US" sz="1814">
                <a:solidFill>
                  <a:srgbClr val="000000"/>
                </a:solidFill>
                <a:latin typeface="Courier New"/>
                <a:ea typeface="Courier New"/>
                <a:cs typeface="Courier New"/>
                <a:sym typeface="Courier New"/>
              </a:rPr>
              <a:t>zero_division=0</a:t>
            </a:r>
          </a:p>
          <a:p>
            <a:pPr algn="just">
              <a:lnSpc>
                <a:spcPts val="2539"/>
              </a:lnSpc>
            </a:pPr>
            <a:r>
              <a:rPr lang="en-US" sz="1814">
                <a:solidFill>
                  <a:srgbClr val="000000"/>
                </a:solidFill>
                <a:latin typeface="Courier New"/>
                <a:ea typeface="Courier New"/>
                <a:cs typeface="Courier New"/>
                <a:sym typeface="Courier New"/>
              </a:rPr>
              <a:t>))</a:t>
            </a:r>
          </a:p>
          <a:p>
            <a:pPr algn="just">
              <a:lnSpc>
                <a:spcPts val="2539"/>
              </a:lnSpc>
              <a:spcBef>
                <a:spcPct val="0"/>
              </a:spcBef>
            </a:pPr>
          </a:p>
        </p:txBody>
      </p:sp>
      <p:sp>
        <p:nvSpPr>
          <p:cNvPr name="TextBox 8" id="8"/>
          <p:cNvSpPr txBox="true"/>
          <p:nvPr/>
        </p:nvSpPr>
        <p:spPr>
          <a:xfrm rot="0">
            <a:off x="1028700" y="286512"/>
            <a:ext cx="15430500" cy="1217295"/>
          </a:xfrm>
          <a:prstGeom prst="rect">
            <a:avLst/>
          </a:prstGeom>
        </p:spPr>
        <p:txBody>
          <a:bodyPr anchor="t" rtlCol="false" tIns="0" lIns="0" bIns="0" rIns="0">
            <a:spAutoFit/>
          </a:bodyPr>
          <a:lstStyle/>
          <a:p>
            <a:pPr algn="l" marL="0" indent="0" lvl="0">
              <a:lnSpc>
                <a:spcPts val="10080"/>
              </a:lnSpc>
              <a:spcBef>
                <a:spcPct val="0"/>
              </a:spcBef>
            </a:pPr>
            <a:r>
              <a:rPr lang="en-US" b="true" sz="7200">
                <a:solidFill>
                  <a:srgbClr val="FFFFFF"/>
                </a:solidFill>
                <a:latin typeface="Open Sauce Bold"/>
                <a:ea typeface="Open Sauce Bold"/>
                <a:cs typeface="Open Sauce Bold"/>
                <a:sym typeface="Open Sauce Bold"/>
              </a:rPr>
              <a:t>RandomForest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32430"/>
            <a:ext cx="18288000" cy="2307915"/>
            <a:chOff x="0" y="0"/>
            <a:chExt cx="3762963" cy="474880"/>
          </a:xfrm>
        </p:grpSpPr>
        <p:sp>
          <p:nvSpPr>
            <p:cNvPr name="Freeform 3" id="3"/>
            <p:cNvSpPr/>
            <p:nvPr/>
          </p:nvSpPr>
          <p:spPr>
            <a:xfrm flipH="false" flipV="false" rot="0">
              <a:off x="0" y="0"/>
              <a:ext cx="3762963" cy="474880"/>
            </a:xfrm>
            <a:custGeom>
              <a:avLst/>
              <a:gdLst/>
              <a:ahLst/>
              <a:cxnLst/>
              <a:rect r="r" b="b" t="t" l="l"/>
              <a:pathLst>
                <a:path h="474880" w="3762963">
                  <a:moveTo>
                    <a:pt x="8268" y="0"/>
                  </a:moveTo>
                  <a:lnTo>
                    <a:pt x="3754695" y="0"/>
                  </a:lnTo>
                  <a:cubicBezTo>
                    <a:pt x="3756888" y="0"/>
                    <a:pt x="3758991" y="871"/>
                    <a:pt x="3760541" y="2422"/>
                  </a:cubicBezTo>
                  <a:cubicBezTo>
                    <a:pt x="3762092" y="3972"/>
                    <a:pt x="3762963" y="6075"/>
                    <a:pt x="3762963" y="8268"/>
                  </a:cubicBezTo>
                  <a:lnTo>
                    <a:pt x="3762963" y="466611"/>
                  </a:lnTo>
                  <a:cubicBezTo>
                    <a:pt x="3762963" y="471178"/>
                    <a:pt x="3759261" y="474880"/>
                    <a:pt x="3754695" y="474880"/>
                  </a:cubicBezTo>
                  <a:lnTo>
                    <a:pt x="8268" y="474880"/>
                  </a:lnTo>
                  <a:cubicBezTo>
                    <a:pt x="3702" y="474880"/>
                    <a:pt x="0" y="471178"/>
                    <a:pt x="0" y="466611"/>
                  </a:cubicBezTo>
                  <a:lnTo>
                    <a:pt x="0" y="8268"/>
                  </a:lnTo>
                  <a:cubicBezTo>
                    <a:pt x="0" y="3702"/>
                    <a:pt x="3702" y="0"/>
                    <a:pt x="8268" y="0"/>
                  </a:cubicBezTo>
                  <a:close/>
                </a:path>
              </a:pathLst>
            </a:custGeom>
            <a:solidFill>
              <a:srgbClr val="016B67"/>
            </a:solidFill>
          </p:spPr>
        </p:sp>
        <p:sp>
          <p:nvSpPr>
            <p:cNvPr name="TextBox 4" id="4"/>
            <p:cNvSpPr txBox="true"/>
            <p:nvPr/>
          </p:nvSpPr>
          <p:spPr>
            <a:xfrm>
              <a:off x="0" y="-47625"/>
              <a:ext cx="3762963" cy="522505"/>
            </a:xfrm>
            <a:prstGeom prst="rect">
              <a:avLst/>
            </a:prstGeom>
          </p:spPr>
          <p:txBody>
            <a:bodyPr anchor="ctr" rtlCol="false" tIns="50800" lIns="50800" bIns="50800" rIns="50800"/>
            <a:lstStyle/>
            <a:p>
              <a:pPr algn="ctr">
                <a:lnSpc>
                  <a:spcPts val="2800"/>
                </a:lnSpc>
              </a:pPr>
            </a:p>
          </p:txBody>
        </p:sp>
      </p:grpSp>
      <p:sp>
        <p:nvSpPr>
          <p:cNvPr name="Freeform 5" id="5"/>
          <p:cNvSpPr/>
          <p:nvPr/>
        </p:nvSpPr>
        <p:spPr>
          <a:xfrm flipH="false" flipV="false" rot="0">
            <a:off x="2047138" y="2306371"/>
            <a:ext cx="5159650" cy="2432082"/>
          </a:xfrm>
          <a:custGeom>
            <a:avLst/>
            <a:gdLst/>
            <a:ahLst/>
            <a:cxnLst/>
            <a:rect r="r" b="b" t="t" l="l"/>
            <a:pathLst>
              <a:path h="2432082" w="5159650">
                <a:moveTo>
                  <a:pt x="0" y="0"/>
                </a:moveTo>
                <a:lnTo>
                  <a:pt x="5159650" y="0"/>
                </a:lnTo>
                <a:lnTo>
                  <a:pt x="5159650" y="2432082"/>
                </a:lnTo>
                <a:lnTo>
                  <a:pt x="0" y="2432082"/>
                </a:lnTo>
                <a:lnTo>
                  <a:pt x="0" y="0"/>
                </a:lnTo>
                <a:close/>
              </a:path>
            </a:pathLst>
          </a:custGeom>
          <a:blipFill>
            <a:blip r:embed="rId2"/>
            <a:stretch>
              <a:fillRect l="0" t="0" r="0" b="0"/>
            </a:stretch>
          </a:blipFill>
        </p:spPr>
      </p:sp>
      <p:sp>
        <p:nvSpPr>
          <p:cNvPr name="Freeform 6" id="6"/>
          <p:cNvSpPr/>
          <p:nvPr/>
        </p:nvSpPr>
        <p:spPr>
          <a:xfrm flipH="false" flipV="false" rot="0">
            <a:off x="1799856" y="5071828"/>
            <a:ext cx="5654215" cy="4821149"/>
          </a:xfrm>
          <a:custGeom>
            <a:avLst/>
            <a:gdLst/>
            <a:ahLst/>
            <a:cxnLst/>
            <a:rect r="r" b="b" t="t" l="l"/>
            <a:pathLst>
              <a:path h="4821149" w="5654215">
                <a:moveTo>
                  <a:pt x="0" y="0"/>
                </a:moveTo>
                <a:lnTo>
                  <a:pt x="5654215" y="0"/>
                </a:lnTo>
                <a:lnTo>
                  <a:pt x="5654215" y="4821149"/>
                </a:lnTo>
                <a:lnTo>
                  <a:pt x="0" y="4821149"/>
                </a:lnTo>
                <a:lnTo>
                  <a:pt x="0" y="0"/>
                </a:lnTo>
                <a:close/>
              </a:path>
            </a:pathLst>
          </a:custGeom>
          <a:blipFill>
            <a:blip r:embed="rId3"/>
            <a:stretch>
              <a:fillRect l="0" t="0" r="0" b="0"/>
            </a:stretch>
          </a:blipFill>
        </p:spPr>
      </p:sp>
      <p:sp>
        <p:nvSpPr>
          <p:cNvPr name="TextBox 7" id="7"/>
          <p:cNvSpPr txBox="true"/>
          <p:nvPr/>
        </p:nvSpPr>
        <p:spPr>
          <a:xfrm rot="0">
            <a:off x="8601836" y="2258746"/>
            <a:ext cx="9095656" cy="7899443"/>
          </a:xfrm>
          <a:prstGeom prst="rect">
            <a:avLst/>
          </a:prstGeom>
        </p:spPr>
        <p:txBody>
          <a:bodyPr anchor="t" rtlCol="false" tIns="0" lIns="0" bIns="0" rIns="0">
            <a:spAutoFit/>
          </a:bodyPr>
          <a:lstStyle/>
          <a:p>
            <a:pPr algn="just">
              <a:lnSpc>
                <a:spcPts val="2211"/>
              </a:lnSpc>
            </a:pPr>
            <a:r>
              <a:rPr lang="en-US" sz="1579">
                <a:solidFill>
                  <a:srgbClr val="000000"/>
                </a:solidFill>
                <a:latin typeface="Courier New"/>
                <a:ea typeface="Courier New"/>
                <a:cs typeface="Courier New"/>
                <a:sym typeface="Courier New"/>
              </a:rPr>
              <a:t>learning_rates = [0.05, 0.1]</a:t>
            </a:r>
          </a:p>
          <a:p>
            <a:pPr algn="just">
              <a:lnSpc>
                <a:spcPts val="2211"/>
              </a:lnSpc>
            </a:pPr>
            <a:r>
              <a:rPr lang="en-US" sz="1579">
                <a:solidFill>
                  <a:srgbClr val="000000"/>
                </a:solidFill>
                <a:latin typeface="Courier New"/>
                <a:ea typeface="Courier New"/>
                <a:cs typeface="Courier New"/>
                <a:sym typeface="Courier New"/>
              </a:rPr>
              <a:t>cv = StratifiedKFold(n_splits=5, shuffle=True, random_state=42)</a:t>
            </a:r>
          </a:p>
          <a:p>
            <a:pPr algn="just">
              <a:lnSpc>
                <a:spcPts val="2211"/>
              </a:lnSpc>
            </a:pPr>
          </a:p>
          <a:p>
            <a:pPr algn="just">
              <a:lnSpc>
                <a:spcPts val="2211"/>
              </a:lnSpc>
            </a:pPr>
            <a:r>
              <a:rPr lang="en-US" sz="1579">
                <a:solidFill>
                  <a:srgbClr val="000000"/>
                </a:solidFill>
                <a:latin typeface="Courier New"/>
                <a:ea typeface="Courier New"/>
                <a:cs typeface="Courier New"/>
                <a:sym typeface="Courier New"/>
              </a:rPr>
              <a:t>best_score = 0</a:t>
            </a:r>
          </a:p>
          <a:p>
            <a:pPr algn="just">
              <a:lnSpc>
                <a:spcPts val="2211"/>
              </a:lnSpc>
            </a:pPr>
            <a:r>
              <a:rPr lang="en-US" sz="1579">
                <a:solidFill>
                  <a:srgbClr val="000000"/>
                </a:solidFill>
                <a:latin typeface="Courier New"/>
                <a:ea typeface="Courier New"/>
                <a:cs typeface="Courier New"/>
                <a:sym typeface="Courier New"/>
              </a:rPr>
              <a:t>bes</a:t>
            </a:r>
            <a:r>
              <a:rPr lang="en-US" sz="1579">
                <a:solidFill>
                  <a:srgbClr val="000000"/>
                </a:solidFill>
                <a:latin typeface="Courier New"/>
                <a:ea typeface="Courier New"/>
                <a:cs typeface="Courier New"/>
                <a:sym typeface="Courier New"/>
              </a:rPr>
              <a:t>t_params = {}</a:t>
            </a:r>
          </a:p>
          <a:p>
            <a:pPr algn="just">
              <a:lnSpc>
                <a:spcPts val="2211"/>
              </a:lnSpc>
            </a:pPr>
          </a:p>
          <a:p>
            <a:pPr algn="just">
              <a:lnSpc>
                <a:spcPts val="2211"/>
              </a:lnSpc>
            </a:pPr>
            <a:r>
              <a:rPr lang="en-US" sz="1579">
                <a:solidFill>
                  <a:srgbClr val="000000"/>
                </a:solidFill>
                <a:latin typeface="Courier New"/>
                <a:ea typeface="Courier New"/>
                <a:cs typeface="Courier New"/>
                <a:sym typeface="Courier New"/>
              </a:rPr>
              <a:t>for lr in learning_rates:</a:t>
            </a:r>
          </a:p>
          <a:p>
            <a:pPr algn="just">
              <a:lnSpc>
                <a:spcPts val="2211"/>
              </a:lnSpc>
            </a:pPr>
            <a:r>
              <a:rPr lang="en-US" sz="1579">
                <a:solidFill>
                  <a:srgbClr val="000000"/>
                </a:solidFill>
                <a:latin typeface="Courier New"/>
                <a:ea typeface="Courier New"/>
                <a:cs typeface="Courier New"/>
                <a:sym typeface="Courier New"/>
              </a:rPr>
              <a:t>  print(f"\nTesting learning_rate={lr}")</a:t>
            </a:r>
          </a:p>
          <a:p>
            <a:pPr algn="just">
              <a:lnSpc>
                <a:spcPts val="2211"/>
              </a:lnSpc>
            </a:pPr>
            <a:r>
              <a:rPr lang="en-US" sz="1579">
                <a:solidFill>
                  <a:srgbClr val="000000"/>
                </a:solidFill>
                <a:latin typeface="Courier New"/>
                <a:ea typeface="Courier New"/>
                <a:cs typeface="Courier New"/>
                <a:sym typeface="Courier New"/>
              </a:rPr>
              <a:t>  fold_scores = []</a:t>
            </a:r>
          </a:p>
          <a:p>
            <a:pPr algn="just">
              <a:lnSpc>
                <a:spcPts val="2211"/>
              </a:lnSpc>
            </a:pPr>
            <a:r>
              <a:rPr lang="en-US" sz="1579">
                <a:solidFill>
                  <a:srgbClr val="000000"/>
                </a:solidFill>
                <a:latin typeface="Courier New"/>
                <a:ea typeface="Courier New"/>
                <a:cs typeface="Courier New"/>
                <a:sym typeface="Courier New"/>
              </a:rPr>
              <a:t>  </a:t>
            </a:r>
          </a:p>
          <a:p>
            <a:pPr algn="just">
              <a:lnSpc>
                <a:spcPts val="2211"/>
              </a:lnSpc>
            </a:pPr>
            <a:r>
              <a:rPr lang="en-US" sz="1579">
                <a:solidFill>
                  <a:srgbClr val="000000"/>
                </a:solidFill>
                <a:latin typeface="Courier New"/>
                <a:ea typeface="Courier New"/>
                <a:cs typeface="Courier New"/>
                <a:sym typeface="Courier New"/>
              </a:rPr>
              <a:t>  for fold_counter, (train_idx, val_idx) in enumerate(cv.split(X_train, y_train), 1):</a:t>
            </a:r>
          </a:p>
          <a:p>
            <a:pPr algn="just">
              <a:lnSpc>
                <a:spcPts val="2211"/>
              </a:lnSpc>
            </a:pPr>
            <a:r>
              <a:rPr lang="en-US" sz="1579">
                <a:solidFill>
                  <a:srgbClr val="000000"/>
                </a:solidFill>
                <a:latin typeface="Courier New"/>
                <a:ea typeface="Courier New"/>
                <a:cs typeface="Courier New"/>
                <a:sym typeface="Courier New"/>
              </a:rPr>
              <a:t>    X_tr,</a:t>
            </a:r>
            <a:r>
              <a:rPr lang="en-US" sz="1579">
                <a:solidFill>
                  <a:srgbClr val="000000"/>
                </a:solidFill>
                <a:latin typeface="Courier New"/>
                <a:ea typeface="Courier New"/>
                <a:cs typeface="Courier New"/>
                <a:sym typeface="Courier New"/>
              </a:rPr>
              <a:t> X_val = X_train[train_idx], X_train[val_idx]</a:t>
            </a:r>
          </a:p>
          <a:p>
            <a:pPr algn="just">
              <a:lnSpc>
                <a:spcPts val="2211"/>
              </a:lnSpc>
            </a:pPr>
            <a:r>
              <a:rPr lang="en-US" sz="1579">
                <a:solidFill>
                  <a:srgbClr val="000000"/>
                </a:solidFill>
                <a:latin typeface="Courier New"/>
                <a:ea typeface="Courier New"/>
                <a:cs typeface="Courier New"/>
                <a:sym typeface="Courier New"/>
              </a:rPr>
              <a:t>    y_tr, y_val = y_train[train_idx], y_train[val_idx]</a:t>
            </a:r>
          </a:p>
          <a:p>
            <a:pPr algn="just">
              <a:lnSpc>
                <a:spcPts val="2211"/>
              </a:lnSpc>
            </a:pPr>
          </a:p>
          <a:p>
            <a:pPr algn="just">
              <a:lnSpc>
                <a:spcPts val="2211"/>
              </a:lnSpc>
            </a:pPr>
            <a:r>
              <a:rPr lang="en-US" sz="1579">
                <a:solidFill>
                  <a:srgbClr val="000000"/>
                </a:solidFill>
                <a:latin typeface="Courier New"/>
                <a:ea typeface="Courier New"/>
                <a:cs typeface="Courier New"/>
                <a:sym typeface="Courier New"/>
              </a:rPr>
              <a:t>    model = XGBClassifier(</a:t>
            </a:r>
          </a:p>
          <a:p>
            <a:pPr algn="just">
              <a:lnSpc>
                <a:spcPts val="2211"/>
              </a:lnSpc>
            </a:pPr>
            <a:r>
              <a:rPr lang="en-US" sz="1579">
                <a:solidFill>
                  <a:srgbClr val="000000"/>
                </a:solidFill>
                <a:latin typeface="Courier New"/>
                <a:ea typeface="Courier New"/>
                <a:cs typeface="Courier New"/>
                <a:sym typeface="Courier New"/>
              </a:rPr>
              <a:t>      n_estimators=300,</a:t>
            </a:r>
          </a:p>
          <a:p>
            <a:pPr algn="just">
              <a:lnSpc>
                <a:spcPts val="2211"/>
              </a:lnSpc>
            </a:pPr>
            <a:r>
              <a:rPr lang="en-US" sz="1579">
                <a:solidFill>
                  <a:srgbClr val="000000"/>
                </a:solidFill>
                <a:latin typeface="Courier New"/>
                <a:ea typeface="Courier New"/>
                <a:cs typeface="Courier New"/>
                <a:sym typeface="Courier New"/>
              </a:rPr>
              <a:t>      m</a:t>
            </a:r>
            <a:r>
              <a:rPr lang="en-US" sz="1579">
                <a:solidFill>
                  <a:srgbClr val="000000"/>
                </a:solidFill>
                <a:latin typeface="Courier New"/>
                <a:ea typeface="Courier New"/>
                <a:cs typeface="Courier New"/>
                <a:sym typeface="Courier New"/>
              </a:rPr>
              <a:t>ax_depth=6,</a:t>
            </a:r>
          </a:p>
          <a:p>
            <a:pPr algn="just">
              <a:lnSpc>
                <a:spcPts val="2211"/>
              </a:lnSpc>
            </a:pPr>
            <a:r>
              <a:rPr lang="en-US" sz="1579">
                <a:solidFill>
                  <a:srgbClr val="000000"/>
                </a:solidFill>
                <a:latin typeface="Courier New"/>
                <a:ea typeface="Courier New"/>
                <a:cs typeface="Courier New"/>
                <a:sym typeface="Courier New"/>
              </a:rPr>
              <a:t>      learn</a:t>
            </a:r>
            <a:r>
              <a:rPr lang="en-US" sz="1579">
                <a:solidFill>
                  <a:srgbClr val="000000"/>
                </a:solidFill>
                <a:latin typeface="Courier New"/>
                <a:ea typeface="Courier New"/>
                <a:cs typeface="Courier New"/>
                <a:sym typeface="Courier New"/>
              </a:rPr>
              <a:t>ing_rate=lr,</a:t>
            </a:r>
          </a:p>
          <a:p>
            <a:pPr algn="just">
              <a:lnSpc>
                <a:spcPts val="2211"/>
              </a:lnSpc>
            </a:pPr>
            <a:r>
              <a:rPr lang="en-US" sz="1579">
                <a:solidFill>
                  <a:srgbClr val="000000"/>
                </a:solidFill>
                <a:latin typeface="Courier New"/>
                <a:ea typeface="Courier New"/>
                <a:cs typeface="Courier New"/>
                <a:sym typeface="Courier New"/>
              </a:rPr>
              <a:t>      subsample=0.8,</a:t>
            </a:r>
          </a:p>
          <a:p>
            <a:pPr algn="just">
              <a:lnSpc>
                <a:spcPts val="2211"/>
              </a:lnSpc>
            </a:pPr>
            <a:r>
              <a:rPr lang="en-US" sz="1579">
                <a:solidFill>
                  <a:srgbClr val="000000"/>
                </a:solidFill>
                <a:latin typeface="Courier New"/>
                <a:ea typeface="Courier New"/>
                <a:cs typeface="Courier New"/>
                <a:sym typeface="Courier New"/>
              </a:rPr>
              <a:t>      colsample_bytree=0.8,</a:t>
            </a:r>
          </a:p>
          <a:p>
            <a:pPr algn="just">
              <a:lnSpc>
                <a:spcPts val="2211"/>
              </a:lnSpc>
            </a:pPr>
            <a:r>
              <a:rPr lang="en-US" sz="1579">
                <a:solidFill>
                  <a:srgbClr val="000000"/>
                </a:solidFill>
                <a:latin typeface="Courier New"/>
                <a:ea typeface="Courier New"/>
                <a:cs typeface="Courier New"/>
                <a:sym typeface="Courier New"/>
              </a:rPr>
              <a:t>      obje</a:t>
            </a:r>
            <a:r>
              <a:rPr lang="en-US" sz="1579">
                <a:solidFill>
                  <a:srgbClr val="000000"/>
                </a:solidFill>
                <a:latin typeface="Courier New"/>
                <a:ea typeface="Courier New"/>
                <a:cs typeface="Courier New"/>
                <a:sym typeface="Courier New"/>
              </a:rPr>
              <a:t>ctive="multi:softprob",</a:t>
            </a:r>
          </a:p>
          <a:p>
            <a:pPr algn="just">
              <a:lnSpc>
                <a:spcPts val="2211"/>
              </a:lnSpc>
            </a:pPr>
            <a:r>
              <a:rPr lang="en-US" sz="1579">
                <a:solidFill>
                  <a:srgbClr val="000000"/>
                </a:solidFill>
                <a:latin typeface="Courier New"/>
                <a:ea typeface="Courier New"/>
                <a:cs typeface="Courier New"/>
                <a:sym typeface="Courier New"/>
              </a:rPr>
              <a:t>      eval_metric="mlogloss",</a:t>
            </a:r>
          </a:p>
          <a:p>
            <a:pPr algn="just">
              <a:lnSpc>
                <a:spcPts val="2211"/>
              </a:lnSpc>
            </a:pPr>
            <a:r>
              <a:rPr lang="en-US" sz="1579">
                <a:solidFill>
                  <a:srgbClr val="000000"/>
                </a:solidFill>
                <a:latin typeface="Courier New"/>
                <a:ea typeface="Courier New"/>
                <a:cs typeface="Courier New"/>
                <a:sym typeface="Courier New"/>
              </a:rPr>
              <a:t>      r</a:t>
            </a:r>
            <a:r>
              <a:rPr lang="en-US" sz="1579">
                <a:solidFill>
                  <a:srgbClr val="000000"/>
                </a:solidFill>
                <a:latin typeface="Courier New"/>
                <a:ea typeface="Courier New"/>
                <a:cs typeface="Courier New"/>
                <a:sym typeface="Courier New"/>
              </a:rPr>
              <a:t>andom_state=42,</a:t>
            </a:r>
          </a:p>
          <a:p>
            <a:pPr algn="just">
              <a:lnSpc>
                <a:spcPts val="2211"/>
              </a:lnSpc>
            </a:pPr>
            <a:r>
              <a:rPr lang="en-US" sz="1579">
                <a:solidFill>
                  <a:srgbClr val="000000"/>
                </a:solidFill>
                <a:latin typeface="Courier New"/>
                <a:ea typeface="Courier New"/>
                <a:cs typeface="Courier New"/>
                <a:sym typeface="Courier New"/>
              </a:rPr>
              <a:t>      </a:t>
            </a:r>
            <a:r>
              <a:rPr lang="en-US" sz="1579">
                <a:solidFill>
                  <a:srgbClr val="000000"/>
                </a:solidFill>
                <a:latin typeface="Courier New"/>
                <a:ea typeface="Courier New"/>
                <a:cs typeface="Courier New"/>
                <a:sym typeface="Courier New"/>
              </a:rPr>
              <a:t>n_jobs=-1,</a:t>
            </a:r>
          </a:p>
          <a:p>
            <a:pPr algn="just">
              <a:lnSpc>
                <a:spcPts val="2211"/>
              </a:lnSpc>
            </a:pPr>
            <a:r>
              <a:rPr lang="en-US" sz="1579">
                <a:solidFill>
                  <a:srgbClr val="000000"/>
                </a:solidFill>
                <a:latin typeface="Courier New"/>
                <a:ea typeface="Courier New"/>
                <a:cs typeface="Courier New"/>
                <a:sym typeface="Courier New"/>
              </a:rPr>
              <a:t>      tree_method="gpu_hist",</a:t>
            </a:r>
          </a:p>
          <a:p>
            <a:pPr algn="just">
              <a:lnSpc>
                <a:spcPts val="2211"/>
              </a:lnSpc>
            </a:pPr>
            <a:r>
              <a:rPr lang="en-US" sz="1579">
                <a:solidFill>
                  <a:srgbClr val="000000"/>
                </a:solidFill>
                <a:latin typeface="Courier New"/>
                <a:ea typeface="Courier New"/>
                <a:cs typeface="Courier New"/>
                <a:sym typeface="Courier New"/>
              </a:rPr>
              <a:t>      p</a:t>
            </a:r>
            <a:r>
              <a:rPr lang="en-US" sz="1579">
                <a:solidFill>
                  <a:srgbClr val="000000"/>
                </a:solidFill>
                <a:latin typeface="Courier New"/>
                <a:ea typeface="Courier New"/>
                <a:cs typeface="Courier New"/>
                <a:sym typeface="Courier New"/>
              </a:rPr>
              <a:t>redictor="gpu_predictor"</a:t>
            </a:r>
          </a:p>
          <a:p>
            <a:pPr algn="just">
              <a:lnSpc>
                <a:spcPts val="2211"/>
              </a:lnSpc>
            </a:pPr>
            <a:r>
              <a:rPr lang="en-US" sz="1579">
                <a:solidFill>
                  <a:srgbClr val="000000"/>
                </a:solidFill>
                <a:latin typeface="Courier New"/>
                <a:ea typeface="Courier New"/>
                <a:cs typeface="Courier New"/>
                <a:sym typeface="Courier New"/>
              </a:rPr>
              <a:t>    )</a:t>
            </a:r>
          </a:p>
          <a:p>
            <a:pPr algn="just">
              <a:lnSpc>
                <a:spcPts val="2211"/>
              </a:lnSpc>
              <a:spcBef>
                <a:spcPct val="0"/>
              </a:spcBef>
            </a:pPr>
          </a:p>
        </p:txBody>
      </p:sp>
      <p:sp>
        <p:nvSpPr>
          <p:cNvPr name="TextBox 8" id="8"/>
          <p:cNvSpPr txBox="true"/>
          <p:nvPr/>
        </p:nvSpPr>
        <p:spPr>
          <a:xfrm rot="0">
            <a:off x="1028700" y="286512"/>
            <a:ext cx="15430500" cy="1217295"/>
          </a:xfrm>
          <a:prstGeom prst="rect">
            <a:avLst/>
          </a:prstGeom>
        </p:spPr>
        <p:txBody>
          <a:bodyPr anchor="t" rtlCol="false" tIns="0" lIns="0" bIns="0" rIns="0">
            <a:spAutoFit/>
          </a:bodyPr>
          <a:lstStyle/>
          <a:p>
            <a:pPr algn="l" marL="0" indent="0" lvl="0">
              <a:lnSpc>
                <a:spcPts val="10080"/>
              </a:lnSpc>
              <a:spcBef>
                <a:spcPct val="0"/>
              </a:spcBef>
            </a:pPr>
            <a:r>
              <a:rPr lang="en-US" b="true" sz="7200">
                <a:solidFill>
                  <a:srgbClr val="FFFFFF"/>
                </a:solidFill>
                <a:latin typeface="Open Sauce Bold"/>
                <a:ea typeface="Open Sauce Bold"/>
                <a:cs typeface="Open Sauce Bold"/>
                <a:sym typeface="Open Sauce Bold"/>
              </a:rPr>
              <a:t>XGBoost (Tuned)</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339657" y="5290731"/>
            <a:ext cx="15608685" cy="4086697"/>
          </a:xfrm>
          <a:prstGeom prst="rect">
            <a:avLst/>
          </a:prstGeom>
        </p:spPr>
        <p:txBody>
          <a:bodyPr anchor="t" rtlCol="false" tIns="0" lIns="0" bIns="0" rIns="0">
            <a:spAutoFit/>
          </a:bodyPr>
          <a:lstStyle/>
          <a:p>
            <a:pPr algn="just">
              <a:lnSpc>
                <a:spcPts val="3648"/>
              </a:lnSpc>
            </a:pPr>
            <a:r>
              <a:rPr lang="en-US" sz="2606" b="true">
                <a:solidFill>
                  <a:srgbClr val="000000"/>
                </a:solidFill>
                <a:latin typeface="Open Sauce Bold"/>
                <a:ea typeface="Open Sauce Bold"/>
                <a:cs typeface="Open Sauce Bold"/>
                <a:sym typeface="Open Sauce Bold"/>
              </a:rPr>
              <a:t>XGBoost </a:t>
            </a:r>
            <a:r>
              <a:rPr lang="en-US" sz="2606">
                <a:solidFill>
                  <a:srgbClr val="000000"/>
                </a:solidFill>
                <a:latin typeface="Open Sauce"/>
                <a:ea typeface="Open Sauce"/>
                <a:cs typeface="Open Sauce"/>
                <a:sym typeface="Open Sauce"/>
              </a:rPr>
              <a:t>berhasil menangani ketidakseimbangan data lebih baik dibandingkan Random Forest. Hal ini terlihat dari peningkatan performa pada kelas minoritas seperti Hispa dan LeafBlast, yang cenderung terabaikan oleh Random Forest karena distribusi data yang tidak seimbang. </a:t>
            </a:r>
          </a:p>
          <a:p>
            <a:pPr algn="just">
              <a:lnSpc>
                <a:spcPts val="3648"/>
              </a:lnSpc>
            </a:pPr>
          </a:p>
          <a:p>
            <a:pPr algn="just">
              <a:lnSpc>
                <a:spcPts val="3648"/>
              </a:lnSpc>
            </a:pPr>
            <a:r>
              <a:rPr lang="en-US" sz="2606" b="true">
                <a:solidFill>
                  <a:srgbClr val="000000"/>
                </a:solidFill>
                <a:latin typeface="Open Sauce Bold"/>
                <a:ea typeface="Open Sauce Bold"/>
                <a:cs typeface="Open Sauce Bold"/>
                <a:sym typeface="Open Sauce Bold"/>
              </a:rPr>
              <a:t>XGBoost</a:t>
            </a:r>
            <a:r>
              <a:rPr lang="en-US" sz="2606">
                <a:solidFill>
                  <a:srgbClr val="000000"/>
                </a:solidFill>
                <a:latin typeface="Open Sauce"/>
                <a:ea typeface="Open Sauce"/>
                <a:cs typeface="Open Sauce"/>
                <a:sym typeface="Open Sauce"/>
              </a:rPr>
              <a:t> menggunakan gradient boosting yang berfokus pada kesalahan prediksi dari iterasi sebelumnya, sehingga model dapat memberikan bobot lebih pada sampel yang sulit diklasifikasikan. Selain itu, XGBoost mendukung penyesuaian parameter scale_pos_weight atau optimisasi melalui eval_metric seperti mlogloss, yang secara eksplisit memperhitungkan distribusi kelas saat pelatihan</a:t>
            </a:r>
          </a:p>
        </p:txBody>
      </p:sp>
      <p:grpSp>
        <p:nvGrpSpPr>
          <p:cNvPr name="Group 3" id="3"/>
          <p:cNvGrpSpPr/>
          <p:nvPr/>
        </p:nvGrpSpPr>
        <p:grpSpPr>
          <a:xfrm rot="0">
            <a:off x="0" y="-332430"/>
            <a:ext cx="18288000" cy="2307915"/>
            <a:chOff x="0" y="0"/>
            <a:chExt cx="3762963" cy="474880"/>
          </a:xfrm>
        </p:grpSpPr>
        <p:sp>
          <p:nvSpPr>
            <p:cNvPr name="Freeform 4" id="4"/>
            <p:cNvSpPr/>
            <p:nvPr/>
          </p:nvSpPr>
          <p:spPr>
            <a:xfrm flipH="false" flipV="false" rot="0">
              <a:off x="0" y="0"/>
              <a:ext cx="3762963" cy="474880"/>
            </a:xfrm>
            <a:custGeom>
              <a:avLst/>
              <a:gdLst/>
              <a:ahLst/>
              <a:cxnLst/>
              <a:rect r="r" b="b" t="t" l="l"/>
              <a:pathLst>
                <a:path h="474880" w="3762963">
                  <a:moveTo>
                    <a:pt x="8268" y="0"/>
                  </a:moveTo>
                  <a:lnTo>
                    <a:pt x="3754695" y="0"/>
                  </a:lnTo>
                  <a:cubicBezTo>
                    <a:pt x="3756888" y="0"/>
                    <a:pt x="3758991" y="871"/>
                    <a:pt x="3760541" y="2422"/>
                  </a:cubicBezTo>
                  <a:cubicBezTo>
                    <a:pt x="3762092" y="3972"/>
                    <a:pt x="3762963" y="6075"/>
                    <a:pt x="3762963" y="8268"/>
                  </a:cubicBezTo>
                  <a:lnTo>
                    <a:pt x="3762963" y="466611"/>
                  </a:lnTo>
                  <a:cubicBezTo>
                    <a:pt x="3762963" y="471178"/>
                    <a:pt x="3759261" y="474880"/>
                    <a:pt x="3754695" y="474880"/>
                  </a:cubicBezTo>
                  <a:lnTo>
                    <a:pt x="8268" y="474880"/>
                  </a:lnTo>
                  <a:cubicBezTo>
                    <a:pt x="3702" y="474880"/>
                    <a:pt x="0" y="471178"/>
                    <a:pt x="0" y="466611"/>
                  </a:cubicBezTo>
                  <a:lnTo>
                    <a:pt x="0" y="8268"/>
                  </a:lnTo>
                  <a:cubicBezTo>
                    <a:pt x="0" y="3702"/>
                    <a:pt x="3702" y="0"/>
                    <a:pt x="8268" y="0"/>
                  </a:cubicBezTo>
                  <a:close/>
                </a:path>
              </a:pathLst>
            </a:custGeom>
            <a:solidFill>
              <a:srgbClr val="016B67"/>
            </a:solidFill>
          </p:spPr>
        </p:sp>
        <p:sp>
          <p:nvSpPr>
            <p:cNvPr name="TextBox 5" id="5"/>
            <p:cNvSpPr txBox="true"/>
            <p:nvPr/>
          </p:nvSpPr>
          <p:spPr>
            <a:xfrm>
              <a:off x="0" y="-47625"/>
              <a:ext cx="3762963" cy="522505"/>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false" flipV="false" rot="0">
            <a:off x="4948584" y="2491726"/>
            <a:ext cx="9183097" cy="2169235"/>
          </a:xfrm>
          <a:custGeom>
            <a:avLst/>
            <a:gdLst/>
            <a:ahLst/>
            <a:cxnLst/>
            <a:rect r="r" b="b" t="t" l="l"/>
            <a:pathLst>
              <a:path h="2169235" w="9183097">
                <a:moveTo>
                  <a:pt x="0" y="0"/>
                </a:moveTo>
                <a:lnTo>
                  <a:pt x="9183096" y="0"/>
                </a:lnTo>
                <a:lnTo>
                  <a:pt x="9183096" y="2169235"/>
                </a:lnTo>
                <a:lnTo>
                  <a:pt x="0" y="2169235"/>
                </a:lnTo>
                <a:lnTo>
                  <a:pt x="0" y="0"/>
                </a:lnTo>
                <a:close/>
              </a:path>
            </a:pathLst>
          </a:custGeom>
          <a:blipFill>
            <a:blip r:embed="rId2"/>
            <a:stretch>
              <a:fillRect l="0" t="0" r="0" b="0"/>
            </a:stretch>
          </a:blipFill>
        </p:spPr>
      </p:sp>
      <p:sp>
        <p:nvSpPr>
          <p:cNvPr name="TextBox 7" id="7"/>
          <p:cNvSpPr txBox="true"/>
          <p:nvPr/>
        </p:nvSpPr>
        <p:spPr>
          <a:xfrm rot="0">
            <a:off x="1028700" y="286512"/>
            <a:ext cx="15430500" cy="1217295"/>
          </a:xfrm>
          <a:prstGeom prst="rect">
            <a:avLst/>
          </a:prstGeom>
        </p:spPr>
        <p:txBody>
          <a:bodyPr anchor="t" rtlCol="false" tIns="0" lIns="0" bIns="0" rIns="0">
            <a:spAutoFit/>
          </a:bodyPr>
          <a:lstStyle/>
          <a:p>
            <a:pPr algn="l" marL="0" indent="0" lvl="0">
              <a:lnSpc>
                <a:spcPts val="10080"/>
              </a:lnSpc>
              <a:spcBef>
                <a:spcPct val="0"/>
              </a:spcBef>
            </a:pPr>
            <a:r>
              <a:rPr lang="en-US" b="true" sz="7200">
                <a:solidFill>
                  <a:srgbClr val="FFFFFF"/>
                </a:solidFill>
                <a:latin typeface="Open Sauce Bold"/>
                <a:ea typeface="Open Sauce Bold"/>
                <a:cs typeface="Open Sauce Bold"/>
                <a:sym typeface="Open Sauce Bold"/>
              </a:rPr>
              <a:t>Hasil Perbandingan Model</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428750" y="2941020"/>
            <a:ext cx="14339534" cy="5857875"/>
          </a:xfrm>
          <a:prstGeom prst="rect">
            <a:avLst/>
          </a:prstGeom>
        </p:spPr>
        <p:txBody>
          <a:bodyPr anchor="t" rtlCol="false" tIns="0" lIns="0" bIns="0" rIns="0">
            <a:spAutoFit/>
          </a:bodyPr>
          <a:lstStyle/>
          <a:p>
            <a:pPr algn="just">
              <a:lnSpc>
                <a:spcPts val="4200"/>
              </a:lnSpc>
            </a:pPr>
            <a:r>
              <a:rPr lang="en-US" sz="3000" b="true">
                <a:solidFill>
                  <a:srgbClr val="000000"/>
                </a:solidFill>
                <a:latin typeface="Open Sauce Bold"/>
                <a:ea typeface="Open Sauce Bold"/>
                <a:cs typeface="Open Sauce Bold"/>
                <a:sym typeface="Open Sauce Bold"/>
              </a:rPr>
              <a:t>Kesimpulan:</a:t>
            </a:r>
          </a:p>
          <a:p>
            <a:pPr algn="just" marL="647700" indent="-323850" lvl="1">
              <a:lnSpc>
                <a:spcPts val="4200"/>
              </a:lnSpc>
              <a:buFont typeface="Arial"/>
              <a:buChar char="•"/>
            </a:pPr>
            <a:r>
              <a:rPr lang="en-US" sz="3000">
                <a:solidFill>
                  <a:srgbClr val="000000"/>
                </a:solidFill>
                <a:latin typeface="Open Sauce"/>
                <a:ea typeface="Open Sauce"/>
                <a:cs typeface="Open Sauce"/>
                <a:sym typeface="Open Sauce"/>
              </a:rPr>
              <a:t>Metode Hybrid DenseNet201 + XGBoost efektif dengan akurasi 74.66%.</a:t>
            </a:r>
          </a:p>
          <a:p>
            <a:pPr algn="just" marL="647700" indent="-323850" lvl="1">
              <a:lnSpc>
                <a:spcPts val="4200"/>
              </a:lnSpc>
              <a:buFont typeface="Arial"/>
              <a:buChar char="•"/>
            </a:pPr>
            <a:r>
              <a:rPr lang="en-US" sz="3000">
                <a:solidFill>
                  <a:srgbClr val="000000"/>
                </a:solidFill>
                <a:latin typeface="Open Sauce"/>
                <a:ea typeface="Open Sauce"/>
                <a:cs typeface="Open Sauce"/>
                <a:sym typeface="Open Sauce"/>
              </a:rPr>
              <a:t>XGBoost terbukti lebih unggul dibanding Rand</a:t>
            </a:r>
            <a:r>
              <a:rPr lang="en-US" sz="3000">
                <a:solidFill>
                  <a:srgbClr val="000000"/>
                </a:solidFill>
                <a:latin typeface="Open Sauce"/>
                <a:ea typeface="Open Sauce"/>
                <a:cs typeface="Open Sauce"/>
                <a:sym typeface="Open Sauce"/>
              </a:rPr>
              <a:t>om Forest pada dataset ini.</a:t>
            </a:r>
          </a:p>
          <a:p>
            <a:pPr algn="just" marL="647700" indent="-323850" lvl="1">
              <a:lnSpc>
                <a:spcPts val="4200"/>
              </a:lnSpc>
              <a:buFont typeface="Arial"/>
              <a:buChar char="•"/>
            </a:pPr>
            <a:r>
              <a:rPr lang="en-US" sz="3000">
                <a:solidFill>
                  <a:srgbClr val="000000"/>
                </a:solidFill>
                <a:latin typeface="Open Sauce"/>
                <a:ea typeface="Open Sauce"/>
                <a:cs typeface="Open Sauce"/>
                <a:sym typeface="Open Sauce"/>
              </a:rPr>
              <a:t>Gr</a:t>
            </a:r>
            <a:r>
              <a:rPr lang="en-US" sz="3000">
                <a:solidFill>
                  <a:srgbClr val="000000"/>
                </a:solidFill>
                <a:latin typeface="Open Sauce"/>
                <a:ea typeface="Open Sauce"/>
                <a:cs typeface="Open Sauce"/>
                <a:sym typeface="Open Sauce"/>
              </a:rPr>
              <a:t>ad-CAM berhasil memberikan transparansi pada keputusan model.</a:t>
            </a:r>
          </a:p>
          <a:p>
            <a:pPr algn="just">
              <a:lnSpc>
                <a:spcPts val="4200"/>
              </a:lnSpc>
            </a:pPr>
          </a:p>
          <a:p>
            <a:pPr algn="just">
              <a:lnSpc>
                <a:spcPts val="4200"/>
              </a:lnSpc>
            </a:pPr>
            <a:r>
              <a:rPr lang="en-US" sz="3000" b="true">
                <a:solidFill>
                  <a:srgbClr val="000000"/>
                </a:solidFill>
                <a:latin typeface="Open Sauce Bold"/>
                <a:ea typeface="Open Sauce Bold"/>
                <a:cs typeface="Open Sauce Bold"/>
                <a:sym typeface="Open Sauce Bold"/>
              </a:rPr>
              <a:t>Saran:</a:t>
            </a:r>
          </a:p>
          <a:p>
            <a:pPr algn="just" marL="647700" indent="-323850" lvl="1">
              <a:lnSpc>
                <a:spcPts val="4200"/>
              </a:lnSpc>
              <a:buFont typeface="Arial"/>
              <a:buChar char="•"/>
            </a:pPr>
            <a:r>
              <a:rPr lang="en-US" sz="3000">
                <a:solidFill>
                  <a:srgbClr val="000000"/>
                </a:solidFill>
                <a:latin typeface="Open Sauce"/>
                <a:ea typeface="Open Sauce"/>
                <a:cs typeface="Open Sauce"/>
                <a:sym typeface="Open Sauce"/>
              </a:rPr>
              <a:t>Menambah jumlah data pada kelas minoritas (Hispa) atau teknik augmentasi lanjutan.</a:t>
            </a:r>
          </a:p>
          <a:p>
            <a:pPr algn="just" marL="647700" indent="-323850" lvl="1">
              <a:lnSpc>
                <a:spcPts val="4200"/>
              </a:lnSpc>
              <a:buFont typeface="Arial"/>
              <a:buChar char="•"/>
            </a:pPr>
            <a:r>
              <a:rPr lang="en-US" sz="3000">
                <a:solidFill>
                  <a:srgbClr val="000000"/>
                </a:solidFill>
                <a:latin typeface="Open Sauce"/>
                <a:ea typeface="Open Sauce"/>
                <a:cs typeface="Open Sauce"/>
                <a:sym typeface="Open Sauce"/>
              </a:rPr>
              <a:t>Mengembangkan ke aplikasi Mobile (Android) untuk penggunaan langsung di sawah.</a:t>
            </a:r>
          </a:p>
          <a:p>
            <a:pPr algn="just" marL="0" indent="0" lvl="0">
              <a:lnSpc>
                <a:spcPts val="4200"/>
              </a:lnSpc>
              <a:spcBef>
                <a:spcPct val="0"/>
              </a:spcBef>
            </a:pPr>
          </a:p>
        </p:txBody>
      </p:sp>
      <p:grpSp>
        <p:nvGrpSpPr>
          <p:cNvPr name="Group 3" id="3"/>
          <p:cNvGrpSpPr/>
          <p:nvPr/>
        </p:nvGrpSpPr>
        <p:grpSpPr>
          <a:xfrm rot="0">
            <a:off x="0" y="-332430"/>
            <a:ext cx="18288000" cy="2307915"/>
            <a:chOff x="0" y="0"/>
            <a:chExt cx="3762963" cy="474880"/>
          </a:xfrm>
        </p:grpSpPr>
        <p:sp>
          <p:nvSpPr>
            <p:cNvPr name="Freeform 4" id="4"/>
            <p:cNvSpPr/>
            <p:nvPr/>
          </p:nvSpPr>
          <p:spPr>
            <a:xfrm flipH="false" flipV="false" rot="0">
              <a:off x="0" y="0"/>
              <a:ext cx="3762963" cy="474880"/>
            </a:xfrm>
            <a:custGeom>
              <a:avLst/>
              <a:gdLst/>
              <a:ahLst/>
              <a:cxnLst/>
              <a:rect r="r" b="b" t="t" l="l"/>
              <a:pathLst>
                <a:path h="474880" w="3762963">
                  <a:moveTo>
                    <a:pt x="8268" y="0"/>
                  </a:moveTo>
                  <a:lnTo>
                    <a:pt x="3754695" y="0"/>
                  </a:lnTo>
                  <a:cubicBezTo>
                    <a:pt x="3756888" y="0"/>
                    <a:pt x="3758991" y="871"/>
                    <a:pt x="3760541" y="2422"/>
                  </a:cubicBezTo>
                  <a:cubicBezTo>
                    <a:pt x="3762092" y="3972"/>
                    <a:pt x="3762963" y="6075"/>
                    <a:pt x="3762963" y="8268"/>
                  </a:cubicBezTo>
                  <a:lnTo>
                    <a:pt x="3762963" y="466611"/>
                  </a:lnTo>
                  <a:cubicBezTo>
                    <a:pt x="3762963" y="471178"/>
                    <a:pt x="3759261" y="474880"/>
                    <a:pt x="3754695" y="474880"/>
                  </a:cubicBezTo>
                  <a:lnTo>
                    <a:pt x="8268" y="474880"/>
                  </a:lnTo>
                  <a:cubicBezTo>
                    <a:pt x="3702" y="474880"/>
                    <a:pt x="0" y="471178"/>
                    <a:pt x="0" y="466611"/>
                  </a:cubicBezTo>
                  <a:lnTo>
                    <a:pt x="0" y="8268"/>
                  </a:lnTo>
                  <a:cubicBezTo>
                    <a:pt x="0" y="3702"/>
                    <a:pt x="3702" y="0"/>
                    <a:pt x="8268" y="0"/>
                  </a:cubicBezTo>
                  <a:close/>
                </a:path>
              </a:pathLst>
            </a:custGeom>
            <a:solidFill>
              <a:srgbClr val="016B67"/>
            </a:solidFill>
          </p:spPr>
        </p:sp>
        <p:sp>
          <p:nvSpPr>
            <p:cNvPr name="TextBox 5" id="5"/>
            <p:cNvSpPr txBox="true"/>
            <p:nvPr/>
          </p:nvSpPr>
          <p:spPr>
            <a:xfrm>
              <a:off x="0" y="-47625"/>
              <a:ext cx="3762963" cy="522505"/>
            </a:xfrm>
            <a:prstGeom prst="rect">
              <a:avLst/>
            </a:prstGeom>
          </p:spPr>
          <p:txBody>
            <a:bodyPr anchor="ctr" rtlCol="false" tIns="50800" lIns="50800" bIns="50800" rIns="50800"/>
            <a:lstStyle/>
            <a:p>
              <a:pPr algn="ctr">
                <a:lnSpc>
                  <a:spcPts val="2800"/>
                </a:lnSpc>
              </a:pPr>
            </a:p>
          </p:txBody>
        </p:sp>
      </p:grpSp>
      <p:sp>
        <p:nvSpPr>
          <p:cNvPr name="TextBox 6" id="6"/>
          <p:cNvSpPr txBox="true"/>
          <p:nvPr/>
        </p:nvSpPr>
        <p:spPr>
          <a:xfrm rot="0">
            <a:off x="1028700" y="286512"/>
            <a:ext cx="15430500" cy="1217295"/>
          </a:xfrm>
          <a:prstGeom prst="rect">
            <a:avLst/>
          </a:prstGeom>
        </p:spPr>
        <p:txBody>
          <a:bodyPr anchor="t" rtlCol="false" tIns="0" lIns="0" bIns="0" rIns="0">
            <a:spAutoFit/>
          </a:bodyPr>
          <a:lstStyle/>
          <a:p>
            <a:pPr algn="l" marL="0" indent="0" lvl="0">
              <a:lnSpc>
                <a:spcPts val="10080"/>
              </a:lnSpc>
              <a:spcBef>
                <a:spcPct val="0"/>
              </a:spcBef>
            </a:pPr>
            <a:r>
              <a:rPr lang="en-US" b="true" sz="7200">
                <a:solidFill>
                  <a:srgbClr val="FFFFFF"/>
                </a:solidFill>
                <a:latin typeface="Open Sauce Bold"/>
                <a:ea typeface="Open Sauce Bold"/>
                <a:cs typeface="Open Sauce Bold"/>
                <a:sym typeface="Open Sauce Bold"/>
              </a:rPr>
              <a:t>Kesimpulan &amp; Saran</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332430"/>
            <a:ext cx="18288000" cy="7738794"/>
            <a:chOff x="0" y="0"/>
            <a:chExt cx="3762963" cy="1592344"/>
          </a:xfrm>
        </p:grpSpPr>
        <p:sp>
          <p:nvSpPr>
            <p:cNvPr name="Freeform 3" id="3"/>
            <p:cNvSpPr/>
            <p:nvPr/>
          </p:nvSpPr>
          <p:spPr>
            <a:xfrm flipH="false" flipV="false" rot="0">
              <a:off x="0" y="0"/>
              <a:ext cx="3762963" cy="1592344"/>
            </a:xfrm>
            <a:custGeom>
              <a:avLst/>
              <a:gdLst/>
              <a:ahLst/>
              <a:cxnLst/>
              <a:rect r="r" b="b" t="t" l="l"/>
              <a:pathLst>
                <a:path h="1592344" w="3762963">
                  <a:moveTo>
                    <a:pt x="8268" y="0"/>
                  </a:moveTo>
                  <a:lnTo>
                    <a:pt x="3754695" y="0"/>
                  </a:lnTo>
                  <a:cubicBezTo>
                    <a:pt x="3756888" y="0"/>
                    <a:pt x="3758991" y="871"/>
                    <a:pt x="3760541" y="2422"/>
                  </a:cubicBezTo>
                  <a:cubicBezTo>
                    <a:pt x="3762092" y="3972"/>
                    <a:pt x="3762963" y="6075"/>
                    <a:pt x="3762963" y="8268"/>
                  </a:cubicBezTo>
                  <a:lnTo>
                    <a:pt x="3762963" y="1584076"/>
                  </a:lnTo>
                  <a:cubicBezTo>
                    <a:pt x="3762963" y="1588643"/>
                    <a:pt x="3759261" y="1592344"/>
                    <a:pt x="3754695" y="1592344"/>
                  </a:cubicBezTo>
                  <a:lnTo>
                    <a:pt x="8268" y="1592344"/>
                  </a:lnTo>
                  <a:cubicBezTo>
                    <a:pt x="3702" y="1592344"/>
                    <a:pt x="0" y="1588643"/>
                    <a:pt x="0" y="1584076"/>
                  </a:cubicBezTo>
                  <a:lnTo>
                    <a:pt x="0" y="8268"/>
                  </a:lnTo>
                  <a:cubicBezTo>
                    <a:pt x="0" y="3702"/>
                    <a:pt x="3702" y="0"/>
                    <a:pt x="8268" y="0"/>
                  </a:cubicBezTo>
                  <a:close/>
                </a:path>
              </a:pathLst>
            </a:custGeom>
            <a:solidFill>
              <a:srgbClr val="016B67"/>
            </a:solidFill>
          </p:spPr>
        </p:sp>
        <p:sp>
          <p:nvSpPr>
            <p:cNvPr name="TextBox 4" id="4"/>
            <p:cNvSpPr txBox="true"/>
            <p:nvPr/>
          </p:nvSpPr>
          <p:spPr>
            <a:xfrm>
              <a:off x="0" y="-47625"/>
              <a:ext cx="3762963" cy="1639969"/>
            </a:xfrm>
            <a:prstGeom prst="rect">
              <a:avLst/>
            </a:prstGeom>
          </p:spPr>
          <p:txBody>
            <a:bodyPr anchor="ctr" rtlCol="false" tIns="50800" lIns="50800" bIns="50800" rIns="50800"/>
            <a:lstStyle/>
            <a:p>
              <a:pPr algn="ctr">
                <a:lnSpc>
                  <a:spcPts val="2800"/>
                </a:lnSpc>
              </a:pPr>
            </a:p>
          </p:txBody>
        </p:sp>
      </p:grpSp>
      <p:sp>
        <p:nvSpPr>
          <p:cNvPr name="TextBox 5" id="5"/>
          <p:cNvSpPr txBox="true"/>
          <p:nvPr/>
        </p:nvSpPr>
        <p:spPr>
          <a:xfrm rot="0">
            <a:off x="1974233" y="8620167"/>
            <a:ext cx="14339534" cy="523875"/>
          </a:xfrm>
          <a:prstGeom prst="rect">
            <a:avLst/>
          </a:prstGeom>
        </p:spPr>
        <p:txBody>
          <a:bodyPr anchor="t" rtlCol="false" tIns="0" lIns="0" bIns="0" rIns="0">
            <a:spAutoFit/>
          </a:bodyPr>
          <a:lstStyle/>
          <a:p>
            <a:pPr algn="ctr" marL="0" indent="0" lvl="0">
              <a:lnSpc>
                <a:spcPts val="4200"/>
              </a:lnSpc>
              <a:spcBef>
                <a:spcPct val="0"/>
              </a:spcBef>
            </a:pPr>
            <a:r>
              <a:rPr lang="en-US" b="true" sz="3000">
                <a:solidFill>
                  <a:srgbClr val="000000"/>
                </a:solidFill>
                <a:latin typeface="Open Sauce Bold"/>
                <a:ea typeface="Open Sauce Bold"/>
                <a:cs typeface="Open Sauce Bold"/>
                <a:sym typeface="Open Sauce Bold"/>
              </a:rPr>
              <a:t>Mohon maaf jika ada salah kata dan penulisan.</a:t>
            </a:r>
          </a:p>
        </p:txBody>
      </p:sp>
      <p:sp>
        <p:nvSpPr>
          <p:cNvPr name="TextBox 6" id="6"/>
          <p:cNvSpPr txBox="true"/>
          <p:nvPr/>
        </p:nvSpPr>
        <p:spPr>
          <a:xfrm rot="0">
            <a:off x="1428750" y="2174953"/>
            <a:ext cx="15430500" cy="3622039"/>
          </a:xfrm>
          <a:prstGeom prst="rect">
            <a:avLst/>
          </a:prstGeom>
        </p:spPr>
        <p:txBody>
          <a:bodyPr anchor="t" rtlCol="false" tIns="0" lIns="0" bIns="0" rIns="0">
            <a:spAutoFit/>
          </a:bodyPr>
          <a:lstStyle/>
          <a:p>
            <a:pPr algn="ctr">
              <a:lnSpc>
                <a:spcPts val="14560"/>
              </a:lnSpc>
            </a:pPr>
            <a:r>
              <a:rPr lang="en-US" sz="10400" b="true">
                <a:solidFill>
                  <a:srgbClr val="FFFFFF"/>
                </a:solidFill>
                <a:latin typeface="Open Sauce Bold"/>
                <a:ea typeface="Open Sauce Bold"/>
                <a:cs typeface="Open Sauce Bold"/>
                <a:sym typeface="Open Sauce Bold"/>
              </a:rPr>
              <a:t>Terima </a:t>
            </a:r>
          </a:p>
          <a:p>
            <a:pPr algn="ctr" marL="0" indent="0" lvl="0">
              <a:lnSpc>
                <a:spcPts val="14560"/>
              </a:lnSpc>
              <a:spcBef>
                <a:spcPct val="0"/>
              </a:spcBef>
            </a:pPr>
            <a:r>
              <a:rPr lang="en-US" b="true" sz="10400">
                <a:solidFill>
                  <a:srgbClr val="FFFFFF"/>
                </a:solidFill>
                <a:latin typeface="Open Sauce Bold"/>
                <a:ea typeface="Open Sauce Bold"/>
                <a:cs typeface="Open Sauce Bold"/>
                <a:sym typeface="Open Sauce Bold"/>
              </a:rPr>
              <a:t>Kasih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DAG85KlEqCE</dc:identifier>
  <dcterms:modified xsi:type="dcterms:W3CDTF">2011-08-01T06:04:30Z</dcterms:modified>
  <cp:revision>1</cp:revision>
  <dc:title>Slide ML Aliefian Ramadhan</dc:title>
</cp:coreProperties>
</file>